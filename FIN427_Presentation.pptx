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w="12700">
            <a:solidFill>
              <a:srgbClr val="1B2A4A"/>
            </a:solidFill>
            <a:prstDash val="solid"/>
          </a:ln>
        </p:spPr>
      </p:sp>
      <p:sp>
        <p:nvSpPr>
          <p:cNvPr id="3" name="Shape 1"/>
          <p:cNvSpPr/>
          <p:nvPr/>
        </p:nvSpPr>
        <p:spPr>
          <a:xfrm>
            <a:off x="0" y="0"/>
            <a:ext cx="82296" cy="6858000"/>
          </a:xfrm>
          <a:prstGeom prst="rect">
            <a:avLst/>
          </a:prstGeom>
          <a:solidFill>
            <a:srgbClr val="C9A84C"/>
          </a:solidFill>
          <a:ln w="12700">
            <a:solidFill>
              <a:srgbClr val="C9A84C"/>
            </a:solidFill>
            <a:prstDash val="solid"/>
          </a:ln>
        </p:spPr>
      </p:sp>
      <p:sp>
        <p:nvSpPr>
          <p:cNvPr id="4" name="Shape 2"/>
          <p:cNvSpPr/>
          <p:nvPr/>
        </p:nvSpPr>
        <p:spPr>
          <a:xfrm>
            <a:off x="502920" y="3063240"/>
            <a:ext cx="4572000" cy="54864"/>
          </a:xfrm>
          <a:prstGeom prst="rect">
            <a:avLst/>
          </a:prstGeom>
          <a:solidFill>
            <a:srgbClr val="C9A84C"/>
          </a:solidFill>
          <a:ln w="12700">
            <a:solidFill>
              <a:srgbClr val="C9A84C"/>
            </a:solidFill>
            <a:prstDash val="solid"/>
          </a:ln>
        </p:spPr>
      </p:sp>
      <p:sp>
        <p:nvSpPr>
          <p:cNvPr id="5" name="Text 3"/>
          <p:cNvSpPr/>
          <p:nvPr/>
        </p:nvSpPr>
        <p:spPr>
          <a:xfrm>
            <a:off x="502920" y="822960"/>
            <a:ext cx="8229600" cy="2011680"/>
          </a:xfrm>
          <a:prstGeom prst="rect">
            <a:avLst/>
          </a:prstGeom>
          <a:noFill/>
          <a:ln/>
        </p:spPr>
        <p:txBody>
          <a:bodyPr wrap="square" rtlCol="0" anchor="ctr"/>
          <a:lstStyle/>
          <a:p>
            <a:pPr algn="l" indent="0" marL="0">
              <a:lnSpc>
                <a:spcPct val="115000"/>
              </a:lnSpc>
              <a:buNone/>
            </a:pPr>
            <a:r>
              <a:rPr lang="en-US" sz="4600" b="1" dirty="0">
                <a:solidFill>
                  <a:srgbClr val="FFFFFF"/>
                </a:solidFill>
                <a:latin typeface="Georgia" pitchFamily="34" charset="0"/>
                <a:ea typeface="Georgia" pitchFamily="34" charset="-122"/>
                <a:cs typeface="Georgia" pitchFamily="34" charset="-120"/>
              </a:rPr>
              <a:t>Machine Learning</a:t>
            </a:r>
            <a:endParaRPr lang="en-US" sz="4600" dirty="0"/>
          </a:p>
          <a:p>
            <a:pPr algn="l" indent="0" marL="0">
              <a:lnSpc>
                <a:spcPct val="115000"/>
              </a:lnSpc>
              <a:buNone/>
            </a:pPr>
            <a:r>
              <a:rPr lang="en-US" sz="4600" b="1" dirty="0">
                <a:solidFill>
                  <a:srgbClr val="FFFFFF"/>
                </a:solidFill>
                <a:latin typeface="Georgia" pitchFamily="34" charset="0"/>
                <a:ea typeface="Georgia" pitchFamily="34" charset="-122"/>
                <a:cs typeface="Georgia" pitchFamily="34" charset="-120"/>
              </a:rPr>
              <a:t>Stock Selection</a:t>
            </a:r>
            <a:endParaRPr lang="en-US" sz="4600" dirty="0"/>
          </a:p>
        </p:txBody>
      </p:sp>
      <p:sp>
        <p:nvSpPr>
          <p:cNvPr id="6" name="Text 4"/>
          <p:cNvSpPr/>
          <p:nvPr/>
        </p:nvSpPr>
        <p:spPr>
          <a:xfrm>
            <a:off x="502920" y="3200400"/>
            <a:ext cx="9144000" cy="502920"/>
          </a:xfrm>
          <a:prstGeom prst="rect">
            <a:avLst/>
          </a:prstGeom>
          <a:noFill/>
          <a:ln/>
        </p:spPr>
        <p:txBody>
          <a:bodyPr wrap="square" rtlCol="0" anchor="ctr"/>
          <a:lstStyle/>
          <a:p>
            <a:pPr algn="l" indent="0" marL="0">
              <a:buNone/>
            </a:pPr>
            <a:r>
              <a:rPr lang="en-US" sz="1800" dirty="0">
                <a:solidFill>
                  <a:srgbClr val="A8C0D6"/>
                </a:solidFill>
                <a:latin typeface="Calibri" pitchFamily="34" charset="0"/>
                <a:ea typeface="Calibri" pitchFamily="34" charset="-122"/>
                <a:cs typeface="Calibri" pitchFamily="34" charset="-120"/>
              </a:rPr>
              <a:t>Household and Personal Products Sector  |  FIN 427</a:t>
            </a:r>
            <a:endParaRPr lang="en-US" sz="1800" dirty="0"/>
          </a:p>
        </p:txBody>
      </p:sp>
      <p:sp>
        <p:nvSpPr>
          <p:cNvPr id="7" name="Text 5"/>
          <p:cNvSpPr/>
          <p:nvPr/>
        </p:nvSpPr>
        <p:spPr>
          <a:xfrm>
            <a:off x="502920" y="3886200"/>
            <a:ext cx="10058400" cy="384048"/>
          </a:xfrm>
          <a:prstGeom prst="rect">
            <a:avLst/>
          </a:prstGeom>
          <a:noFill/>
          <a:ln/>
        </p:spPr>
        <p:txBody>
          <a:bodyPr wrap="square" rtlCol="0" anchor="ctr"/>
          <a:lstStyle/>
          <a:p>
            <a:pPr indent="0" marL="0">
              <a:buNone/>
            </a:pPr>
            <a:r>
              <a:rPr lang="en-US" sz="1300" dirty="0">
                <a:solidFill>
                  <a:srgbClr val="7A9AB8"/>
                </a:solidFill>
                <a:latin typeface="Calibri" pitchFamily="34" charset="0"/>
                <a:ea typeface="Calibri" pitchFamily="34" charset="-122"/>
                <a:cs typeface="Calibri" pitchFamily="34" charset="-120"/>
              </a:rPr>
              <a:t>Harry Wang   •   Vincent Antonio   •   Kepler Huntress   •   Matthew Meilinger</a:t>
            </a:r>
            <a:endParaRPr lang="en-US" sz="1300" dirty="0"/>
          </a:p>
        </p:txBody>
      </p:sp>
      <p:sp>
        <p:nvSpPr>
          <p:cNvPr id="8" name="Text 6"/>
          <p:cNvSpPr/>
          <p:nvPr/>
        </p:nvSpPr>
        <p:spPr>
          <a:xfrm>
            <a:off x="502920" y="4279392"/>
            <a:ext cx="10058400" cy="301752"/>
          </a:xfrm>
          <a:prstGeom prst="rect">
            <a:avLst/>
          </a:prstGeom>
          <a:noFill/>
          <a:ln/>
        </p:spPr>
        <p:txBody>
          <a:bodyPr wrap="square" rtlCol="0" anchor="ctr"/>
          <a:lstStyle/>
          <a:p>
            <a:pPr indent="0" marL="0">
              <a:buNone/>
            </a:pPr>
            <a:r>
              <a:rPr lang="en-US" sz="1000" dirty="0">
                <a:solidFill>
                  <a:srgbClr val="4F7090"/>
                </a:solidFill>
                <a:latin typeface="Calibri" pitchFamily="34" charset="0"/>
                <a:ea typeface="Calibri" pitchFamily="34" charset="-122"/>
                <a:cs typeface="Calibri" pitchFamily="34" charset="-120"/>
              </a:rPr>
              <a:t>whrui@umich.edu  |  antonvin@umich.edu  |  keplerh@umich.edu  |  mattmeil@umich.edu</a:t>
            </a:r>
            <a:endParaRPr lang="en-US" sz="1000" dirty="0"/>
          </a:p>
        </p:txBody>
      </p:sp>
      <p:sp>
        <p:nvSpPr>
          <p:cNvPr id="9" name="Text 7"/>
          <p:cNvSpPr/>
          <p:nvPr/>
        </p:nvSpPr>
        <p:spPr>
          <a:xfrm>
            <a:off x="502920" y="6309360"/>
            <a:ext cx="3657600" cy="292608"/>
          </a:xfrm>
          <a:prstGeom prst="rect">
            <a:avLst/>
          </a:prstGeom>
          <a:noFill/>
          <a:ln/>
        </p:spPr>
        <p:txBody>
          <a:bodyPr wrap="square" rtlCol="0" anchor="ctr"/>
          <a:lstStyle/>
          <a:p>
            <a:pPr indent="0" marL="0">
              <a:buNone/>
            </a:pPr>
            <a:r>
              <a:rPr lang="en-US" sz="1100" dirty="0">
                <a:solidFill>
                  <a:srgbClr val="4F7090"/>
                </a:solidFill>
                <a:latin typeface="Calibri" pitchFamily="34" charset="0"/>
                <a:ea typeface="Calibri" pitchFamily="34" charset="-122"/>
                <a:cs typeface="Calibri" pitchFamily="34" charset="-120"/>
              </a:rPr>
              <a:t>April 7,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Introduction</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78992"/>
            <a:ext cx="11457432" cy="914400"/>
          </a:xfrm>
          <a:prstGeom prst="rect">
            <a:avLst/>
          </a:prstGeom>
          <a:solidFill>
            <a:srgbClr val="E8EDF5"/>
          </a:solidFill>
          <a:ln w="12700">
            <a:solidFill>
              <a:srgbClr val="2E6DB4"/>
            </a:solidFill>
            <a:prstDash val="solid"/>
          </a:ln>
        </p:spPr>
      </p:sp>
      <p:sp>
        <p:nvSpPr>
          <p:cNvPr id="7" name="Text 5"/>
          <p:cNvSpPr/>
          <p:nvPr/>
        </p:nvSpPr>
        <p:spPr>
          <a:xfrm>
            <a:off x="548640" y="1115568"/>
            <a:ext cx="11091672" cy="822960"/>
          </a:xfrm>
          <a:prstGeom prst="rect">
            <a:avLst/>
          </a:prstGeom>
          <a:noFill/>
          <a:ln/>
        </p:spPr>
        <p:txBody>
          <a:bodyPr wrap="square" rtlCol="0" anchor="ctr"/>
          <a:lstStyle/>
          <a:p>
            <a:pPr algn="l" indent="0" marL="0">
              <a:buNone/>
            </a:pPr>
            <a:r>
              <a:rPr lang="en-US" sz="1300" b="1" dirty="0">
                <a:solidFill>
                  <a:srgbClr val="1B2A4A"/>
                </a:solidFill>
                <a:latin typeface="Calibri" pitchFamily="34" charset="0"/>
                <a:ea typeface="Calibri" pitchFamily="34" charset="-122"/>
                <a:cs typeface="Calibri" pitchFamily="34" charset="-120"/>
              </a:rPr>
              <a:t>Research Question: Using machine learning, which stock in the Household and Personal Products sector (GICS 3030) will deliver the highest industry-adjusted return in November 2024?</a:t>
            </a:r>
            <a:endParaRPr lang="en-US" sz="1300" dirty="0"/>
          </a:p>
        </p:txBody>
      </p:sp>
      <p:sp>
        <p:nvSpPr>
          <p:cNvPr id="8" name="Text 6"/>
          <p:cNvSpPr/>
          <p:nvPr/>
        </p:nvSpPr>
        <p:spPr>
          <a:xfrm>
            <a:off x="365760" y="2176272"/>
            <a:ext cx="5394960" cy="347472"/>
          </a:xfrm>
          <a:prstGeom prst="rect">
            <a:avLst/>
          </a:prstGeom>
          <a:noFill/>
          <a:ln/>
        </p:spPr>
        <p:txBody>
          <a:bodyPr wrap="square" rtlCol="0" anchor="ctr"/>
          <a:lstStyle/>
          <a:p>
            <a:pPr indent="0" marL="0">
              <a:buNone/>
            </a:pPr>
            <a:r>
              <a:rPr lang="en-US" sz="1400" b="1" dirty="0">
                <a:solidFill>
                  <a:srgbClr val="2E6DB4"/>
                </a:solidFill>
                <a:latin typeface="Calibri" pitchFamily="34" charset="0"/>
                <a:ea typeface="Calibri" pitchFamily="34" charset="-122"/>
                <a:cs typeface="Calibri" pitchFamily="34" charset="-120"/>
              </a:rPr>
              <a:t>Dataset</a:t>
            </a:r>
            <a:endParaRPr lang="en-US" sz="1400" dirty="0"/>
          </a:p>
        </p:txBody>
      </p:sp>
      <p:sp>
        <p:nvSpPr>
          <p:cNvPr id="9" name="Text 7"/>
          <p:cNvSpPr/>
          <p:nvPr/>
        </p:nvSpPr>
        <p:spPr>
          <a:xfrm>
            <a:off x="365760" y="2578608"/>
            <a:ext cx="5394960" cy="19202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1,053,738 stock-month observations (Jan 2001 – Nov 2024)</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All GICS sectors; prediction restricted to 38 sector stocks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15 winsorized predictor variables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Target: industry-adjusted monthly return (indadjret)</a:t>
            </a:r>
            <a:endParaRPr lang="en-US" sz="1200" dirty="0"/>
          </a:p>
        </p:txBody>
      </p:sp>
      <p:sp>
        <p:nvSpPr>
          <p:cNvPr id="10" name="Text 8"/>
          <p:cNvSpPr/>
          <p:nvPr/>
        </p:nvSpPr>
        <p:spPr>
          <a:xfrm>
            <a:off x="6309360" y="2176272"/>
            <a:ext cx="5486400" cy="347472"/>
          </a:xfrm>
          <a:prstGeom prst="rect">
            <a:avLst/>
          </a:prstGeom>
          <a:noFill/>
          <a:ln/>
        </p:spPr>
        <p:txBody>
          <a:bodyPr wrap="square" rtlCol="0" anchor="ctr"/>
          <a:lstStyle/>
          <a:p>
            <a:pPr indent="0" marL="0">
              <a:buNone/>
            </a:pPr>
            <a:r>
              <a:rPr lang="en-US" sz="1400" b="1" dirty="0">
                <a:solidFill>
                  <a:srgbClr val="2E6DB4"/>
                </a:solidFill>
                <a:latin typeface="Calibri" pitchFamily="34" charset="0"/>
                <a:ea typeface="Calibri" pitchFamily="34" charset="-122"/>
                <a:cs typeface="Calibri" pitchFamily="34" charset="-120"/>
              </a:rPr>
              <a:t>Six Models Evaluated</a:t>
            </a:r>
            <a:endParaRPr lang="en-US" sz="1400" dirty="0"/>
          </a:p>
        </p:txBody>
      </p:sp>
      <p:sp>
        <p:nvSpPr>
          <p:cNvPr id="11" name="Text 9"/>
          <p:cNvSpPr/>
          <p:nvPr/>
        </p:nvSpPr>
        <p:spPr>
          <a:xfrm>
            <a:off x="6309360" y="2578608"/>
            <a:ext cx="5486400" cy="228600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1.  Ordinary Least Squares (OLS)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2.  LASSO Penalized Regression</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3.  Vanilla Decision Tree</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4.  Random Forest</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5.  Gradient Boosting (XGBoost)</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6.  Simple Neural Network (MLP)</a:t>
            </a:r>
            <a:endParaRPr lang="en-US" sz="1200" dirty="0"/>
          </a:p>
        </p:txBody>
      </p:sp>
      <p:sp>
        <p:nvSpPr>
          <p:cNvPr id="12" name="Shape 10"/>
          <p:cNvSpPr/>
          <p:nvPr/>
        </p:nvSpPr>
        <p:spPr>
          <a:xfrm>
            <a:off x="365760" y="5074920"/>
            <a:ext cx="11457432" cy="658368"/>
          </a:xfrm>
          <a:prstGeom prst="rect">
            <a:avLst/>
          </a:prstGeom>
          <a:solidFill>
            <a:srgbClr val="1B2A4A"/>
          </a:solidFill>
          <a:ln w="12700">
            <a:solidFill>
              <a:srgbClr val="1B2A4A"/>
            </a:solidFill>
            <a:prstDash val="solid"/>
          </a:ln>
        </p:spPr>
      </p:sp>
      <p:sp>
        <p:nvSpPr>
          <p:cNvPr id="13" name="Text 11"/>
          <p:cNvSpPr/>
          <p:nvPr/>
        </p:nvSpPr>
        <p:spPr>
          <a:xfrm>
            <a:off x="548640" y="5102352"/>
            <a:ext cx="11091672" cy="594360"/>
          </a:xfrm>
          <a:prstGeom prst="rect">
            <a:avLst/>
          </a:prstGeom>
          <a:noFill/>
          <a:ln/>
        </p:spPr>
        <p:txBody>
          <a:bodyPr wrap="square"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  Recommendation: NAII (Natural Alternatives International Inc.) — top-3 under OLS and XGBoost; top-8 under four of six models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Data Overview</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Text 4"/>
          <p:cNvSpPr/>
          <p:nvPr/>
        </p:nvSpPr>
        <p:spPr>
          <a:xfrm>
            <a:off x="365760" y="1115568"/>
            <a:ext cx="5394960" cy="347472"/>
          </a:xfrm>
          <a:prstGeom prst="rect">
            <a:avLst/>
          </a:prstGeom>
          <a:noFill/>
          <a:ln/>
        </p:spPr>
        <p:txBody>
          <a:bodyPr wrap="square" rtlCol="0" anchor="ctr"/>
          <a:lstStyle/>
          <a:p>
            <a:pPr indent="0" marL="0">
              <a:buNone/>
            </a:pPr>
            <a:r>
              <a:rPr lang="en-US" sz="1400" b="1" dirty="0">
                <a:solidFill>
                  <a:srgbClr val="2E6DB4"/>
                </a:solidFill>
                <a:latin typeface="Calibri" pitchFamily="34" charset="0"/>
                <a:ea typeface="Calibri" pitchFamily="34" charset="-122"/>
                <a:cs typeface="Calibri" pitchFamily="34" charset="-120"/>
              </a:rPr>
              <a:t>Dataset Scope</a:t>
            </a:r>
            <a:endParaRPr lang="en-US" sz="1400" dirty="0"/>
          </a:p>
        </p:txBody>
      </p:sp>
      <p:sp>
        <p:nvSpPr>
          <p:cNvPr id="7" name="Text 5"/>
          <p:cNvSpPr/>
          <p:nvPr/>
        </p:nvSpPr>
        <p:spPr>
          <a:xfrm>
            <a:off x="365760" y="1508760"/>
            <a:ext cx="5394960" cy="164592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  Panel: January 2001 – November 2024</a:t>
            </a:r>
            <a:endParaRPr lang="en-US" sz="1150" dirty="0"/>
          </a:p>
          <a:p>
            <a:pPr indent="0" marL="0">
              <a:buNone/>
            </a:pPr>
            <a:r>
              <a:rPr lang="en-US" sz="1150" dirty="0">
                <a:solidFill>
                  <a:srgbClr val="333333"/>
                </a:solidFill>
                <a:latin typeface="Calibri" pitchFamily="34" charset="0"/>
                <a:ea typeface="Calibri" pitchFamily="34" charset="-122"/>
                <a:cs typeface="Calibri" pitchFamily="34" charset="-120"/>
              </a:rPr>
              <a:t>•  Universe: All GICS sectors (~1.05 M observations)</a:t>
            </a:r>
            <a:endParaRPr lang="en-US" sz="1150" dirty="0"/>
          </a:p>
          <a:p>
            <a:pPr indent="0" marL="0">
              <a:buNone/>
            </a:pPr>
            <a:r>
              <a:rPr lang="en-US" sz="1150" dirty="0">
                <a:solidFill>
                  <a:srgbClr val="333333"/>
                </a:solidFill>
                <a:latin typeface="Calibri" pitchFamily="34" charset="0"/>
                <a:ea typeface="Calibri" pitchFamily="34" charset="-122"/>
                <a:cs typeface="Calibri" pitchFamily="34" charset="-120"/>
              </a:rPr>
              <a:t>•  Prediction universe: 38 stocks (GICS sector 30 / group 3030)</a:t>
            </a:r>
            <a:endParaRPr lang="en-US" sz="1150" dirty="0"/>
          </a:p>
          <a:p>
            <a:pPr indent="0" marL="0">
              <a:buNone/>
            </a:pPr>
            <a:r>
              <a:rPr lang="en-US" sz="1150" dirty="0">
                <a:solidFill>
                  <a:srgbClr val="333333"/>
                </a:solidFill>
                <a:latin typeface="Calibri" pitchFamily="34" charset="0"/>
                <a:ea typeface="Calibri" pitchFamily="34" charset="-122"/>
                <a:cs typeface="Calibri" pitchFamily="34" charset="-120"/>
              </a:rPr>
              <a:t>•  Sources: CRSP, Compustat, WRDS Financial Ratios, OptionsMetrics, BoardEx</a:t>
            </a:r>
            <a:endParaRPr lang="en-US" sz="1150" dirty="0"/>
          </a:p>
        </p:txBody>
      </p:sp>
      <p:sp>
        <p:nvSpPr>
          <p:cNvPr id="8" name="Text 6"/>
          <p:cNvSpPr/>
          <p:nvPr/>
        </p:nvSpPr>
        <p:spPr>
          <a:xfrm>
            <a:off x="365760" y="3246120"/>
            <a:ext cx="5394960" cy="347472"/>
          </a:xfrm>
          <a:prstGeom prst="rect">
            <a:avLst/>
          </a:prstGeom>
          <a:noFill/>
          <a:ln/>
        </p:spPr>
        <p:txBody>
          <a:bodyPr wrap="square" rtlCol="0" anchor="ctr"/>
          <a:lstStyle/>
          <a:p>
            <a:pPr indent="0" marL="0">
              <a:buNone/>
            </a:pPr>
            <a:r>
              <a:rPr lang="en-US" sz="1400" b="1" dirty="0">
                <a:solidFill>
                  <a:srgbClr val="2E6DB4"/>
                </a:solidFill>
                <a:latin typeface="Calibri" pitchFamily="34" charset="0"/>
                <a:ea typeface="Calibri" pitchFamily="34" charset="-122"/>
                <a:cs typeface="Calibri" pitchFamily="34" charset="-120"/>
              </a:rPr>
              <a:t>Predictor Variable Categories (15 variables)</a:t>
            </a:r>
            <a:endParaRPr lang="en-US" sz="1400" dirty="0"/>
          </a:p>
        </p:txBody>
      </p:sp>
      <p:sp>
        <p:nvSpPr>
          <p:cNvPr id="9" name="Shape 7"/>
          <p:cNvSpPr/>
          <p:nvPr/>
        </p:nvSpPr>
        <p:spPr>
          <a:xfrm>
            <a:off x="365760" y="3657600"/>
            <a:ext cx="1920240" cy="310896"/>
          </a:xfrm>
          <a:prstGeom prst="rect">
            <a:avLst/>
          </a:prstGeom>
          <a:solidFill>
            <a:srgbClr val="1B2A4A"/>
          </a:solidFill>
          <a:ln w="12700">
            <a:solidFill>
              <a:srgbClr val="1B2A4A"/>
            </a:solidFill>
            <a:prstDash val="solid"/>
          </a:ln>
        </p:spPr>
      </p:sp>
      <p:sp>
        <p:nvSpPr>
          <p:cNvPr id="10" name="Text 8"/>
          <p:cNvSpPr/>
          <p:nvPr/>
        </p:nvSpPr>
        <p:spPr>
          <a:xfrm>
            <a:off x="411480" y="3657600"/>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p>
        </p:txBody>
      </p:sp>
      <p:sp>
        <p:nvSpPr>
          <p:cNvPr id="11" name="Text 9"/>
          <p:cNvSpPr/>
          <p:nvPr/>
        </p:nvSpPr>
        <p:spPr>
          <a:xfrm>
            <a:off x="2331720" y="3657600"/>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Log real market capitalization</a:t>
            </a:r>
            <a:endParaRPr lang="en-US" sz="1050" dirty="0"/>
          </a:p>
        </p:txBody>
      </p:sp>
      <p:sp>
        <p:nvSpPr>
          <p:cNvPr id="12" name="Shape 10"/>
          <p:cNvSpPr/>
          <p:nvPr/>
        </p:nvSpPr>
        <p:spPr>
          <a:xfrm>
            <a:off x="365760" y="4005072"/>
            <a:ext cx="1920240" cy="310896"/>
          </a:xfrm>
          <a:prstGeom prst="rect">
            <a:avLst/>
          </a:prstGeom>
          <a:solidFill>
            <a:srgbClr val="1B2A4A"/>
          </a:solidFill>
          <a:ln w="12700">
            <a:solidFill>
              <a:srgbClr val="1B2A4A"/>
            </a:solidFill>
            <a:prstDash val="solid"/>
          </a:ln>
        </p:spPr>
      </p:sp>
      <p:sp>
        <p:nvSpPr>
          <p:cNvPr id="13" name="Text 11"/>
          <p:cNvSpPr/>
          <p:nvPr/>
        </p:nvSpPr>
        <p:spPr>
          <a:xfrm>
            <a:off x="411480" y="4005072"/>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p>
        </p:txBody>
      </p:sp>
      <p:sp>
        <p:nvSpPr>
          <p:cNvPr id="14" name="Text 12"/>
          <p:cNvSpPr/>
          <p:nvPr/>
        </p:nvSpPr>
        <p:spPr>
          <a:xfrm>
            <a:off x="2331720" y="4005072"/>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Book-to-market equity</a:t>
            </a:r>
            <a:endParaRPr lang="en-US" sz="1050" dirty="0"/>
          </a:p>
        </p:txBody>
      </p:sp>
      <p:sp>
        <p:nvSpPr>
          <p:cNvPr id="15" name="Shape 13"/>
          <p:cNvSpPr/>
          <p:nvPr/>
        </p:nvSpPr>
        <p:spPr>
          <a:xfrm>
            <a:off x="365760" y="4352544"/>
            <a:ext cx="1920240" cy="310896"/>
          </a:xfrm>
          <a:prstGeom prst="rect">
            <a:avLst/>
          </a:prstGeom>
          <a:solidFill>
            <a:srgbClr val="1B2A4A"/>
          </a:solidFill>
          <a:ln w="12700">
            <a:solidFill>
              <a:srgbClr val="1B2A4A"/>
            </a:solidFill>
            <a:prstDash val="solid"/>
          </a:ln>
        </p:spPr>
      </p:sp>
      <p:sp>
        <p:nvSpPr>
          <p:cNvPr id="16" name="Text 14"/>
          <p:cNvSpPr/>
          <p:nvPr/>
        </p:nvSpPr>
        <p:spPr>
          <a:xfrm>
            <a:off x="411480" y="4352544"/>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Momentum</a:t>
            </a:r>
            <a:endParaRPr lang="en-US" sz="1050" dirty="0"/>
          </a:p>
        </p:txBody>
      </p:sp>
      <p:sp>
        <p:nvSpPr>
          <p:cNvPr id="17" name="Text 15"/>
          <p:cNvSpPr/>
          <p:nvPr/>
        </p:nvSpPr>
        <p:spPr>
          <a:xfrm>
            <a:off x="2331720" y="4352544"/>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12-month &amp; 11-month momentum</a:t>
            </a:r>
            <a:endParaRPr lang="en-US" sz="1050" dirty="0"/>
          </a:p>
        </p:txBody>
      </p:sp>
      <p:sp>
        <p:nvSpPr>
          <p:cNvPr id="18" name="Shape 16"/>
          <p:cNvSpPr/>
          <p:nvPr/>
        </p:nvSpPr>
        <p:spPr>
          <a:xfrm>
            <a:off x="365760" y="4700016"/>
            <a:ext cx="1920240" cy="310896"/>
          </a:xfrm>
          <a:prstGeom prst="rect">
            <a:avLst/>
          </a:prstGeom>
          <a:solidFill>
            <a:srgbClr val="1B2A4A"/>
          </a:solidFill>
          <a:ln w="12700">
            <a:solidFill>
              <a:srgbClr val="1B2A4A"/>
            </a:solidFill>
            <a:prstDash val="solid"/>
          </a:ln>
        </p:spPr>
      </p:sp>
      <p:sp>
        <p:nvSpPr>
          <p:cNvPr id="19" name="Text 17"/>
          <p:cNvSpPr/>
          <p:nvPr/>
        </p:nvSpPr>
        <p:spPr>
          <a:xfrm>
            <a:off x="411480" y="4700016"/>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Profitability</a:t>
            </a:r>
            <a:endParaRPr lang="en-US" sz="1050" dirty="0"/>
          </a:p>
        </p:txBody>
      </p:sp>
      <p:sp>
        <p:nvSpPr>
          <p:cNvPr id="20" name="Text 18"/>
          <p:cNvSpPr/>
          <p:nvPr/>
        </p:nvSpPr>
        <p:spPr>
          <a:xfrm>
            <a:off x="2331720" y="4700016"/>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Net profit margin, ROIC, ΔROA</a:t>
            </a:r>
            <a:endParaRPr lang="en-US" sz="1050" dirty="0"/>
          </a:p>
        </p:txBody>
      </p:sp>
      <p:sp>
        <p:nvSpPr>
          <p:cNvPr id="21" name="Shape 19"/>
          <p:cNvSpPr/>
          <p:nvPr/>
        </p:nvSpPr>
        <p:spPr>
          <a:xfrm>
            <a:off x="365760" y="5047488"/>
            <a:ext cx="1920240" cy="310896"/>
          </a:xfrm>
          <a:prstGeom prst="rect">
            <a:avLst/>
          </a:prstGeom>
          <a:solidFill>
            <a:srgbClr val="1B2A4A"/>
          </a:solidFill>
          <a:ln w="12700">
            <a:solidFill>
              <a:srgbClr val="1B2A4A"/>
            </a:solidFill>
            <a:prstDash val="solid"/>
          </a:ln>
        </p:spPr>
      </p:sp>
      <p:sp>
        <p:nvSpPr>
          <p:cNvPr id="22" name="Text 20"/>
          <p:cNvSpPr/>
          <p:nvPr/>
        </p:nvSpPr>
        <p:spPr>
          <a:xfrm>
            <a:off x="411480" y="5047488"/>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Governance</a:t>
            </a:r>
            <a:endParaRPr lang="en-US" sz="1050" dirty="0"/>
          </a:p>
        </p:txBody>
      </p:sp>
      <p:sp>
        <p:nvSpPr>
          <p:cNvPr id="23" name="Text 21"/>
          <p:cNvSpPr/>
          <p:nvPr/>
        </p:nvSpPr>
        <p:spPr>
          <a:xfrm>
            <a:off x="2331720" y="5047488"/>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Board age diversity, % male directors</a:t>
            </a:r>
            <a:endParaRPr lang="en-US" sz="1050" dirty="0"/>
          </a:p>
        </p:txBody>
      </p:sp>
      <p:sp>
        <p:nvSpPr>
          <p:cNvPr id="24" name="Shape 22"/>
          <p:cNvSpPr/>
          <p:nvPr/>
        </p:nvSpPr>
        <p:spPr>
          <a:xfrm>
            <a:off x="365760" y="5394960"/>
            <a:ext cx="1920240" cy="310896"/>
          </a:xfrm>
          <a:prstGeom prst="rect">
            <a:avLst/>
          </a:prstGeom>
          <a:solidFill>
            <a:srgbClr val="1B2A4A"/>
          </a:solidFill>
          <a:ln w="12700">
            <a:solidFill>
              <a:srgbClr val="1B2A4A"/>
            </a:solidFill>
            <a:prstDash val="solid"/>
          </a:ln>
        </p:spPr>
      </p:sp>
      <p:sp>
        <p:nvSpPr>
          <p:cNvPr id="25" name="Text 23"/>
          <p:cNvSpPr/>
          <p:nvPr/>
        </p:nvSpPr>
        <p:spPr>
          <a:xfrm>
            <a:off x="411480" y="5394960"/>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Risk / Liquidity</a:t>
            </a:r>
            <a:endParaRPr lang="en-US" sz="1050" dirty="0"/>
          </a:p>
        </p:txBody>
      </p:sp>
      <p:sp>
        <p:nvSpPr>
          <p:cNvPr id="26" name="Text 24"/>
          <p:cNvSpPr/>
          <p:nvPr/>
        </p:nvSpPr>
        <p:spPr>
          <a:xfrm>
            <a:off x="2331720" y="5394960"/>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Beta, Amihud illiquidity, current ratio</a:t>
            </a:r>
            <a:endParaRPr lang="en-US" sz="1050" dirty="0"/>
          </a:p>
        </p:txBody>
      </p:sp>
      <p:sp>
        <p:nvSpPr>
          <p:cNvPr id="27" name="Shape 25"/>
          <p:cNvSpPr/>
          <p:nvPr/>
        </p:nvSpPr>
        <p:spPr>
          <a:xfrm>
            <a:off x="365760" y="5742432"/>
            <a:ext cx="1920240" cy="310896"/>
          </a:xfrm>
          <a:prstGeom prst="rect">
            <a:avLst/>
          </a:prstGeom>
          <a:solidFill>
            <a:srgbClr val="1B2A4A"/>
          </a:solidFill>
          <a:ln w="12700">
            <a:solidFill>
              <a:srgbClr val="1B2A4A"/>
            </a:solidFill>
            <a:prstDash val="solid"/>
          </a:ln>
        </p:spPr>
      </p:sp>
      <p:sp>
        <p:nvSpPr>
          <p:cNvPr id="28" name="Text 26"/>
          <p:cNvSpPr/>
          <p:nvPr/>
        </p:nvSpPr>
        <p:spPr>
          <a:xfrm>
            <a:off x="411480" y="5742432"/>
            <a:ext cx="182880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Capital Structure</a:t>
            </a:r>
            <a:endParaRPr lang="en-US" sz="1050" dirty="0"/>
          </a:p>
        </p:txBody>
      </p:sp>
      <p:sp>
        <p:nvSpPr>
          <p:cNvPr id="29" name="Text 27"/>
          <p:cNvSpPr/>
          <p:nvPr/>
        </p:nvSpPr>
        <p:spPr>
          <a:xfrm>
            <a:off x="2331720" y="5742432"/>
            <a:ext cx="3383280" cy="310896"/>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Net WC/assets, log share change, O/S ratio</a:t>
            </a:r>
            <a:endParaRPr lang="en-US" sz="1050" dirty="0"/>
          </a:p>
        </p:txBody>
      </p:sp>
      <p:sp>
        <p:nvSpPr>
          <p:cNvPr id="30" name="Text 28"/>
          <p:cNvSpPr/>
          <p:nvPr/>
        </p:nvSpPr>
        <p:spPr>
          <a:xfrm>
            <a:off x="6126480" y="1115568"/>
            <a:ext cx="576072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Spearman Correlation Matrix of Predictors (Training Set)</a:t>
            </a:r>
            <a:endParaRPr lang="en-US" sz="1050" dirty="0"/>
          </a:p>
        </p:txBody>
      </p:sp>
      <p:pic>
        <p:nvPicPr>
          <p:cNvPr id="31" name="Image 0" descr="C:/Users/hrwan/fin427/fin427report/report_latex/media/media/image2.png">    </p:cNvPr>
          <p:cNvPicPr>
            <a:picLocks noChangeAspect="1"/>
          </p:cNvPicPr>
          <p:nvPr/>
        </p:nvPicPr>
        <p:blipFill>
          <a:blip r:embed="rId1"/>
          <a:stretch>
            <a:fillRect/>
          </a:stretch>
        </p:blipFill>
        <p:spPr>
          <a:xfrm>
            <a:off x="6126480" y="1463040"/>
            <a:ext cx="5760720" cy="5074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Variable of Interest: Net Profit Margin</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Text 4"/>
          <p:cNvSpPr/>
          <p:nvPr/>
        </p:nvSpPr>
        <p:spPr>
          <a:xfrm>
            <a:off x="365760" y="1115568"/>
            <a:ext cx="5669280" cy="347472"/>
          </a:xfrm>
          <a:prstGeom prst="rect">
            <a:avLst/>
          </a:prstGeom>
          <a:noFill/>
          <a:ln/>
        </p:spPr>
        <p:txBody>
          <a:bodyPr wrap="square" rtlCol="0" anchor="ctr"/>
          <a:lstStyle/>
          <a:p>
            <a:pPr indent="0" marL="0">
              <a:buNone/>
            </a:pPr>
            <a:r>
              <a:rPr lang="en-US" sz="1400" b="1" dirty="0">
                <a:solidFill>
                  <a:srgbClr val="2E6DB4"/>
                </a:solidFill>
                <a:latin typeface="Calibri" pitchFamily="34" charset="0"/>
                <a:ea typeface="Calibri" pitchFamily="34" charset="-122"/>
                <a:cs typeface="Calibri" pitchFamily="34" charset="-120"/>
              </a:rPr>
              <a:t>Why Net Profit Margin?</a:t>
            </a:r>
            <a:endParaRPr lang="en-US" sz="1400" dirty="0"/>
          </a:p>
        </p:txBody>
      </p:sp>
      <p:sp>
        <p:nvSpPr>
          <p:cNvPr id="7" name="Text 5"/>
          <p:cNvSpPr/>
          <p:nvPr/>
        </p:nvSpPr>
        <p:spPr>
          <a:xfrm>
            <a:off x="365760" y="1536192"/>
            <a:ext cx="5669280" cy="30632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Net profit margin (net income ÷ total sales) captures how efficiently a firm converts revenue into earnings — a fundamental profitability signal in a sector driven by brand equity and operational efficiency.</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Sustained margins signal durable competitive advantages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Supported by Novy-Marx (2013): profitable firms earn significantly higher returns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Winsorized at 1st–99th percentile; two sequential trimming passes removed ~2.2% of extreme observations</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Final distribution: median 0.036; range [−22.14, 0.36]</a:t>
            </a:r>
            <a:endParaRPr lang="en-US" sz="1200" dirty="0"/>
          </a:p>
        </p:txBody>
      </p:sp>
      <p:sp>
        <p:nvSpPr>
          <p:cNvPr id="8" name="Shape 6"/>
          <p:cNvSpPr/>
          <p:nvPr/>
        </p:nvSpPr>
        <p:spPr>
          <a:xfrm>
            <a:off x="365760" y="4709160"/>
            <a:ext cx="5669280" cy="749808"/>
          </a:xfrm>
          <a:prstGeom prst="rect">
            <a:avLst/>
          </a:prstGeom>
          <a:solidFill>
            <a:srgbClr val="E8EDF5"/>
          </a:solidFill>
          <a:ln w="12700">
            <a:solidFill>
              <a:srgbClr val="2E6DB4"/>
            </a:solidFill>
            <a:prstDash val="solid"/>
          </a:ln>
        </p:spPr>
      </p:sp>
      <p:sp>
        <p:nvSpPr>
          <p:cNvPr id="9" name="Text 7"/>
          <p:cNvSpPr/>
          <p:nvPr/>
        </p:nvSpPr>
        <p:spPr>
          <a:xfrm>
            <a:off x="548640" y="4754880"/>
            <a:ext cx="5303520" cy="658368"/>
          </a:xfrm>
          <a:prstGeom prst="rect">
            <a:avLst/>
          </a:prstGeom>
          <a:noFill/>
          <a:ln/>
        </p:spPr>
        <p:txBody>
          <a:bodyPr wrap="square" rtlCol="0" anchor="ctr"/>
          <a:lstStyle/>
          <a:p>
            <a:pPr indent="0" marL="0">
              <a:buNone/>
            </a:pPr>
            <a:r>
              <a:rPr lang="en-US" sz="1150" dirty="0">
                <a:solidFill>
                  <a:srgbClr val="1B2A4A"/>
                </a:solidFill>
                <a:latin typeface="Calibri" pitchFamily="34" charset="0"/>
                <a:ea typeface="Calibri" pitchFamily="34" charset="-122"/>
                <a:cs typeface="Calibri" pitchFamily="34" charset="-120"/>
              </a:rPr>
              <a:t>Full sample: 1,053,738 obs.  |  Missingness: ~5%  |  Variable code: finnpm</a:t>
            </a:r>
            <a:endParaRPr lang="en-US" sz="1150" dirty="0"/>
          </a:p>
        </p:txBody>
      </p:sp>
      <p:sp>
        <p:nvSpPr>
          <p:cNvPr id="10" name="Text 8"/>
          <p:cNvSpPr/>
          <p:nvPr/>
        </p:nvSpPr>
        <p:spPr>
          <a:xfrm>
            <a:off x="6309360" y="1115568"/>
            <a:ext cx="5577840" cy="274320"/>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Distribution of finnpm (Sector 3030)</a:t>
            </a:r>
            <a:endParaRPr lang="en-US" sz="1050" dirty="0"/>
          </a:p>
        </p:txBody>
      </p:sp>
      <p:pic>
        <p:nvPicPr>
          <p:cNvPr id="11" name="Image 0" descr="C:/Users/hrwan/fin427/fin427report/report_latex/media/media/fig_voi_distribution.png">    </p:cNvPr>
          <p:cNvPicPr>
            <a:picLocks noChangeAspect="1"/>
          </p:cNvPicPr>
          <p:nvPr/>
        </p:nvPicPr>
        <p:blipFill>
          <a:blip r:embed="rId1"/>
          <a:stretch>
            <a:fillRect/>
          </a:stretch>
        </p:blipFill>
        <p:spPr>
          <a:xfrm>
            <a:off x="6309360" y="1435608"/>
            <a:ext cx="5577840" cy="2423160"/>
          </a:xfrm>
          <a:prstGeom prst="rect">
            <a:avLst/>
          </a:prstGeom>
        </p:spPr>
      </p:pic>
      <p:sp>
        <p:nvSpPr>
          <p:cNvPr id="12" name="Text 9"/>
          <p:cNvSpPr/>
          <p:nvPr/>
        </p:nvSpPr>
        <p:spPr>
          <a:xfrm>
            <a:off x="6309360" y="3913632"/>
            <a:ext cx="5577840" cy="274320"/>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Mean Industry-Adjusted Return by Decile of Net Profit Margin</a:t>
            </a:r>
            <a:endParaRPr lang="en-US" sz="1050" dirty="0"/>
          </a:p>
        </p:txBody>
      </p:sp>
      <p:pic>
        <p:nvPicPr>
          <p:cNvPr id="13" name="Image 1" descr="C:/Users/hrwan/fin427/fin427report/report_latex/media/media/fig_voi_return_scatter.png">    </p:cNvPr>
          <p:cNvPicPr>
            <a:picLocks noChangeAspect="1"/>
          </p:cNvPicPr>
          <p:nvPr/>
        </p:nvPicPr>
        <p:blipFill>
          <a:blip r:embed="rId2"/>
          <a:stretch>
            <a:fillRect/>
          </a:stretch>
        </p:blipFill>
        <p:spPr>
          <a:xfrm>
            <a:off x="6309360" y="4233672"/>
            <a:ext cx="5577840" cy="2331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Data Splits &amp; Methodology</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pic>
        <p:nvPicPr>
          <p:cNvPr id="6" name="Image 0" descr="C:/Users/hrwan/fin427/fin427report/report_latex/media/media/fig_train_test_timeline.png">    </p:cNvPr>
          <p:cNvPicPr>
            <a:picLocks noChangeAspect="1"/>
          </p:cNvPicPr>
          <p:nvPr/>
        </p:nvPicPr>
        <p:blipFill>
          <a:blip r:embed="rId1"/>
          <a:stretch>
            <a:fillRect/>
          </a:stretch>
        </p:blipFill>
        <p:spPr>
          <a:xfrm>
            <a:off x="365760" y="1078992"/>
            <a:ext cx="11430000" cy="3017520"/>
          </a:xfrm>
          <a:prstGeom prst="rect">
            <a:avLst/>
          </a:prstGeom>
        </p:spPr>
      </p:pic>
      <p:sp>
        <p:nvSpPr>
          <p:cNvPr id="7" name="Shape 4"/>
          <p:cNvSpPr/>
          <p:nvPr/>
        </p:nvSpPr>
        <p:spPr>
          <a:xfrm>
            <a:off x="365760" y="4233672"/>
            <a:ext cx="2788920" cy="2331720"/>
          </a:xfrm>
          <a:prstGeom prst="rect">
            <a:avLst/>
          </a:prstGeom>
          <a:solidFill>
            <a:srgbClr val="E8EDF5"/>
          </a:solidFill>
          <a:ln w="12700">
            <a:solidFill>
              <a:srgbClr val="2E6DB4"/>
            </a:solidFill>
            <a:prstDash val="solid"/>
          </a:ln>
        </p:spPr>
      </p:sp>
      <p:sp>
        <p:nvSpPr>
          <p:cNvPr id="8" name="Text 5"/>
          <p:cNvSpPr/>
          <p:nvPr/>
        </p:nvSpPr>
        <p:spPr>
          <a:xfrm>
            <a:off x="475488" y="4297680"/>
            <a:ext cx="2560320" cy="347472"/>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Training</a:t>
            </a:r>
            <a:endParaRPr lang="en-US" sz="1400" dirty="0"/>
          </a:p>
        </p:txBody>
      </p:sp>
      <p:sp>
        <p:nvSpPr>
          <p:cNvPr id="9" name="Text 6"/>
          <p:cNvSpPr/>
          <p:nvPr/>
        </p:nvSpPr>
        <p:spPr>
          <a:xfrm>
            <a:off x="475488" y="4663440"/>
            <a:ext cx="2560320" cy="347472"/>
          </a:xfrm>
          <a:prstGeom prst="rect">
            <a:avLst/>
          </a:prstGeom>
          <a:noFill/>
          <a:ln/>
        </p:spPr>
        <p:txBody>
          <a:bodyPr wrap="square" rtlCol="0" anchor="ctr"/>
          <a:lstStyle/>
          <a:p>
            <a:pPr indent="0" marL="0">
              <a:buNone/>
            </a:pPr>
            <a:r>
              <a:rPr lang="en-US" sz="1100" b="1" dirty="0">
                <a:solidFill>
                  <a:srgbClr val="2E6DB4"/>
                </a:solidFill>
                <a:latin typeface="Calibri" pitchFamily="34" charset="0"/>
                <a:ea typeface="Calibri" pitchFamily="34" charset="-122"/>
                <a:cs typeface="Calibri" pitchFamily="34" charset="-120"/>
              </a:rPr>
              <a:t>Jan 2001 – Dec 2018</a:t>
            </a:r>
            <a:endParaRPr lang="en-US" sz="1100" dirty="0"/>
          </a:p>
        </p:txBody>
      </p:sp>
      <p:sp>
        <p:nvSpPr>
          <p:cNvPr id="10" name="Text 7"/>
          <p:cNvSpPr/>
          <p:nvPr/>
        </p:nvSpPr>
        <p:spPr>
          <a:xfrm>
            <a:off x="475488" y="5047488"/>
            <a:ext cx="2560320" cy="1325880"/>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Fit all model parameters</a:t>
            </a:r>
            <a:endParaRPr lang="en-US" sz="1050" dirty="0"/>
          </a:p>
          <a:p>
            <a:pPr indent="0" marL="0">
              <a:buNone/>
            </a:pPr>
            <a:r>
              <a:rPr lang="en-US" sz="1050" dirty="0">
                <a:solidFill>
                  <a:srgbClr val="333333"/>
                </a:solidFill>
                <a:latin typeface="Calibri" pitchFamily="34" charset="0"/>
                <a:ea typeface="Calibri" pitchFamily="34" charset="-122"/>
                <a:cs typeface="Calibri" pitchFamily="34" charset="-120"/>
              </a:rPr>
              <a:t>18 years, multiple business cycles</a:t>
            </a:r>
            <a:endParaRPr lang="en-US" sz="1050" dirty="0"/>
          </a:p>
        </p:txBody>
      </p:sp>
      <p:sp>
        <p:nvSpPr>
          <p:cNvPr id="11" name="Shape 8"/>
          <p:cNvSpPr/>
          <p:nvPr/>
        </p:nvSpPr>
        <p:spPr>
          <a:xfrm>
            <a:off x="3319272" y="4233672"/>
            <a:ext cx="2788920" cy="2331720"/>
          </a:xfrm>
          <a:prstGeom prst="rect">
            <a:avLst/>
          </a:prstGeom>
          <a:solidFill>
            <a:srgbClr val="E8EDF5"/>
          </a:solidFill>
          <a:ln w="12700">
            <a:solidFill>
              <a:srgbClr val="2E6DB4"/>
            </a:solidFill>
            <a:prstDash val="solid"/>
          </a:ln>
        </p:spPr>
      </p:sp>
      <p:sp>
        <p:nvSpPr>
          <p:cNvPr id="12" name="Text 9"/>
          <p:cNvSpPr/>
          <p:nvPr/>
        </p:nvSpPr>
        <p:spPr>
          <a:xfrm>
            <a:off x="3429000" y="4297680"/>
            <a:ext cx="2560320" cy="347472"/>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Validation</a:t>
            </a:r>
            <a:endParaRPr lang="en-US" sz="1400" dirty="0"/>
          </a:p>
        </p:txBody>
      </p:sp>
      <p:sp>
        <p:nvSpPr>
          <p:cNvPr id="13" name="Text 10"/>
          <p:cNvSpPr/>
          <p:nvPr/>
        </p:nvSpPr>
        <p:spPr>
          <a:xfrm>
            <a:off x="3429000" y="4663440"/>
            <a:ext cx="2560320" cy="347472"/>
          </a:xfrm>
          <a:prstGeom prst="rect">
            <a:avLst/>
          </a:prstGeom>
          <a:noFill/>
          <a:ln/>
        </p:spPr>
        <p:txBody>
          <a:bodyPr wrap="square" rtlCol="0" anchor="ctr"/>
          <a:lstStyle/>
          <a:p>
            <a:pPr indent="0" marL="0">
              <a:buNone/>
            </a:pPr>
            <a:r>
              <a:rPr lang="en-US" sz="1100" b="1" dirty="0">
                <a:solidFill>
                  <a:srgbClr val="2E6DB4"/>
                </a:solidFill>
                <a:latin typeface="Calibri" pitchFamily="34" charset="0"/>
                <a:ea typeface="Calibri" pitchFamily="34" charset="-122"/>
                <a:cs typeface="Calibri" pitchFamily="34" charset="-120"/>
              </a:rPr>
              <a:t>Jan 2019 – Dec 2021</a:t>
            </a:r>
            <a:endParaRPr lang="en-US" sz="1100" dirty="0"/>
          </a:p>
        </p:txBody>
      </p:sp>
      <p:sp>
        <p:nvSpPr>
          <p:cNvPr id="14" name="Text 11"/>
          <p:cNvSpPr/>
          <p:nvPr/>
        </p:nvSpPr>
        <p:spPr>
          <a:xfrm>
            <a:off x="3429000" y="5047488"/>
            <a:ext cx="2560320" cy="1325880"/>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Hyperparameter tuning</a:t>
            </a:r>
            <a:endParaRPr lang="en-US" sz="1050" dirty="0"/>
          </a:p>
          <a:p>
            <a:pPr indent="0" marL="0">
              <a:buNone/>
            </a:pPr>
            <a:r>
              <a:rPr lang="en-US" sz="1050" dirty="0">
                <a:solidFill>
                  <a:srgbClr val="333333"/>
                </a:solidFill>
                <a:latin typeface="Calibri" pitchFamily="34" charset="0"/>
                <a:ea typeface="Calibri" pitchFamily="34" charset="-122"/>
                <a:cs typeface="Calibri" pitchFamily="34" charset="-120"/>
              </a:rPr>
              <a:t>Includes COVID-19 structural break</a:t>
            </a:r>
            <a:endParaRPr lang="en-US" sz="1050" dirty="0"/>
          </a:p>
        </p:txBody>
      </p:sp>
      <p:sp>
        <p:nvSpPr>
          <p:cNvPr id="15" name="Shape 12"/>
          <p:cNvSpPr/>
          <p:nvPr/>
        </p:nvSpPr>
        <p:spPr>
          <a:xfrm>
            <a:off x="6272784" y="4233672"/>
            <a:ext cx="2788920" cy="2331720"/>
          </a:xfrm>
          <a:prstGeom prst="rect">
            <a:avLst/>
          </a:prstGeom>
          <a:solidFill>
            <a:srgbClr val="E8EDF5"/>
          </a:solidFill>
          <a:ln w="12700">
            <a:solidFill>
              <a:srgbClr val="2E6DB4"/>
            </a:solidFill>
            <a:prstDash val="solid"/>
          </a:ln>
        </p:spPr>
      </p:sp>
      <p:sp>
        <p:nvSpPr>
          <p:cNvPr id="16" name="Text 13"/>
          <p:cNvSpPr/>
          <p:nvPr/>
        </p:nvSpPr>
        <p:spPr>
          <a:xfrm>
            <a:off x="6382512" y="4297680"/>
            <a:ext cx="2560320" cy="347472"/>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Test</a:t>
            </a:r>
            <a:endParaRPr lang="en-US" sz="1400" dirty="0"/>
          </a:p>
        </p:txBody>
      </p:sp>
      <p:sp>
        <p:nvSpPr>
          <p:cNvPr id="17" name="Text 14"/>
          <p:cNvSpPr/>
          <p:nvPr/>
        </p:nvSpPr>
        <p:spPr>
          <a:xfrm>
            <a:off x="6382512" y="4663440"/>
            <a:ext cx="2560320" cy="347472"/>
          </a:xfrm>
          <a:prstGeom prst="rect">
            <a:avLst/>
          </a:prstGeom>
          <a:noFill/>
          <a:ln/>
        </p:spPr>
        <p:txBody>
          <a:bodyPr wrap="square" rtlCol="0" anchor="ctr"/>
          <a:lstStyle/>
          <a:p>
            <a:pPr indent="0" marL="0">
              <a:buNone/>
            </a:pPr>
            <a:r>
              <a:rPr lang="en-US" sz="1100" b="1" dirty="0">
                <a:solidFill>
                  <a:srgbClr val="2E6DB4"/>
                </a:solidFill>
                <a:latin typeface="Calibri" pitchFamily="34" charset="0"/>
                <a:ea typeface="Calibri" pitchFamily="34" charset="-122"/>
                <a:cs typeface="Calibri" pitchFamily="34" charset="-120"/>
              </a:rPr>
              <a:t>Jan 2022 – Oct 2024</a:t>
            </a:r>
            <a:endParaRPr lang="en-US" sz="1100" dirty="0"/>
          </a:p>
        </p:txBody>
      </p:sp>
      <p:sp>
        <p:nvSpPr>
          <p:cNvPr id="18" name="Text 15"/>
          <p:cNvSpPr/>
          <p:nvPr/>
        </p:nvSpPr>
        <p:spPr>
          <a:xfrm>
            <a:off x="6382512" y="5047488"/>
            <a:ext cx="2560320" cy="1325880"/>
          </a:xfrm>
          <a:prstGeom prst="rect">
            <a:avLst/>
          </a:prstGeom>
          <a:noFill/>
          <a:ln/>
        </p:spPr>
        <p:txBody>
          <a:bodyPr wrap="square" rtlCol="0" anchor="ctr"/>
          <a:lstStyle/>
          <a:p>
            <a:pPr indent="0" marL="0">
              <a:buNone/>
            </a:pPr>
            <a:r>
              <a:rPr lang="en-US" sz="1050" dirty="0">
                <a:solidFill>
                  <a:srgbClr val="333333"/>
                </a:solidFill>
                <a:latin typeface="Calibri" pitchFamily="34" charset="0"/>
                <a:ea typeface="Calibri" pitchFamily="34" charset="-122"/>
                <a:cs typeface="Calibri" pitchFamily="34" charset="-120"/>
              </a:rPr>
              <a:t>Out-of-sample performance</a:t>
            </a:r>
            <a:endParaRPr lang="en-US" sz="1050" dirty="0"/>
          </a:p>
          <a:p>
            <a:pPr indent="0" marL="0">
              <a:buNone/>
            </a:pPr>
            <a:r>
              <a:rPr lang="en-US" sz="1050" dirty="0">
                <a:solidFill>
                  <a:srgbClr val="333333"/>
                </a:solidFill>
                <a:latin typeface="Calibri" pitchFamily="34" charset="0"/>
                <a:ea typeface="Calibri" pitchFamily="34" charset="-122"/>
                <a:cs typeface="Calibri" pitchFamily="34" charset="-120"/>
              </a:rPr>
              <a:t>(R², RMSE, Spearman ρ)</a:t>
            </a:r>
            <a:endParaRPr lang="en-US" sz="1050" dirty="0"/>
          </a:p>
        </p:txBody>
      </p:sp>
      <p:sp>
        <p:nvSpPr>
          <p:cNvPr id="19" name="Shape 16"/>
          <p:cNvSpPr/>
          <p:nvPr/>
        </p:nvSpPr>
        <p:spPr>
          <a:xfrm>
            <a:off x="9226296" y="4233672"/>
            <a:ext cx="2788920" cy="2331720"/>
          </a:xfrm>
          <a:prstGeom prst="rect">
            <a:avLst/>
          </a:prstGeom>
          <a:solidFill>
            <a:srgbClr val="1B2A4A"/>
          </a:solidFill>
          <a:ln w="12700">
            <a:solidFill>
              <a:srgbClr val="C9A84C"/>
            </a:solidFill>
            <a:prstDash val="solid"/>
          </a:ln>
        </p:spPr>
      </p:sp>
      <p:sp>
        <p:nvSpPr>
          <p:cNvPr id="20" name="Text 17"/>
          <p:cNvSpPr/>
          <p:nvPr/>
        </p:nvSpPr>
        <p:spPr>
          <a:xfrm>
            <a:off x="9336024" y="4297680"/>
            <a:ext cx="2560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Prediction</a:t>
            </a:r>
            <a:endParaRPr lang="en-US" sz="1400" dirty="0"/>
          </a:p>
        </p:txBody>
      </p:sp>
      <p:sp>
        <p:nvSpPr>
          <p:cNvPr id="21" name="Text 18"/>
          <p:cNvSpPr/>
          <p:nvPr/>
        </p:nvSpPr>
        <p:spPr>
          <a:xfrm>
            <a:off x="9336024" y="4663440"/>
            <a:ext cx="2560320" cy="347472"/>
          </a:xfrm>
          <a:prstGeom prst="rect">
            <a:avLst/>
          </a:prstGeom>
          <a:noFill/>
          <a:ln/>
        </p:spPr>
        <p:txBody>
          <a:bodyPr wrap="square"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November 2024</a:t>
            </a:r>
            <a:endParaRPr lang="en-US" sz="1100" dirty="0"/>
          </a:p>
        </p:txBody>
      </p:sp>
      <p:sp>
        <p:nvSpPr>
          <p:cNvPr id="22" name="Text 19"/>
          <p:cNvSpPr/>
          <p:nvPr/>
        </p:nvSpPr>
        <p:spPr>
          <a:xfrm>
            <a:off x="9336024" y="5047488"/>
            <a:ext cx="2560320" cy="1325880"/>
          </a:xfrm>
          <a:prstGeom prst="rect">
            <a:avLst/>
          </a:prstGeom>
          <a:noFill/>
          <a:ln/>
        </p:spPr>
        <p:txBody>
          <a:bodyPr wrap="square" rtlCol="0" anchor="ctr"/>
          <a:lstStyle/>
          <a:p>
            <a:pPr indent="0" marL="0">
              <a:buNone/>
            </a:pPr>
            <a:r>
              <a:rPr lang="en-US" sz="1050" dirty="0">
                <a:solidFill>
                  <a:srgbClr val="A8C0D6"/>
                </a:solidFill>
                <a:latin typeface="Calibri" pitchFamily="34" charset="0"/>
                <a:ea typeface="Calibri" pitchFamily="34" charset="-122"/>
                <a:cs typeface="Calibri" pitchFamily="34" charset="-120"/>
              </a:rPr>
              <a:t>Features as of Oct 31, 2024</a:t>
            </a:r>
            <a:endParaRPr lang="en-US" sz="1050" dirty="0"/>
          </a:p>
          <a:p>
            <a:pPr indent="0" marL="0">
              <a:buNone/>
            </a:pPr>
            <a:r>
              <a:rPr lang="en-US" sz="1050" dirty="0">
                <a:solidFill>
                  <a:srgbClr val="A8C0D6"/>
                </a:solidFill>
                <a:latin typeface="Calibri" pitchFamily="34" charset="0"/>
                <a:ea typeface="Calibri" pitchFamily="34" charset="-122"/>
                <a:cs typeface="Calibri" pitchFamily="34" charset="-120"/>
              </a:rPr>
              <a:t>indadjret never used in training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OLS Regression</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97280"/>
            <a:ext cx="2743200" cy="777240"/>
          </a:xfrm>
          <a:prstGeom prst="rect">
            <a:avLst/>
          </a:prstGeom>
          <a:solidFill>
            <a:srgbClr val="E8EDF5"/>
          </a:solidFill>
          <a:ln w="12700">
            <a:solidFill>
              <a:srgbClr val="2E6DB4"/>
            </a:solidFill>
            <a:prstDash val="solid"/>
          </a:ln>
        </p:spPr>
      </p:sp>
      <p:sp>
        <p:nvSpPr>
          <p:cNvPr id="7" name="Text 5"/>
          <p:cNvSpPr/>
          <p:nvPr/>
        </p:nvSpPr>
        <p:spPr>
          <a:xfrm>
            <a:off x="45720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R² (Test)</a:t>
            </a:r>
            <a:endParaRPr lang="en-US" sz="950" dirty="0"/>
          </a:p>
        </p:txBody>
      </p:sp>
      <p:sp>
        <p:nvSpPr>
          <p:cNvPr id="8" name="Text 6"/>
          <p:cNvSpPr/>
          <p:nvPr/>
        </p:nvSpPr>
        <p:spPr>
          <a:xfrm>
            <a:off x="45720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−0.0012</a:t>
            </a:r>
            <a:endParaRPr lang="en-US" sz="1800" dirty="0"/>
          </a:p>
        </p:txBody>
      </p:sp>
      <p:sp>
        <p:nvSpPr>
          <p:cNvPr id="9" name="Shape 7"/>
          <p:cNvSpPr/>
          <p:nvPr/>
        </p:nvSpPr>
        <p:spPr>
          <a:xfrm>
            <a:off x="3291840" y="1097280"/>
            <a:ext cx="2743200" cy="777240"/>
          </a:xfrm>
          <a:prstGeom prst="rect">
            <a:avLst/>
          </a:prstGeom>
          <a:solidFill>
            <a:srgbClr val="E8EDF5"/>
          </a:solidFill>
          <a:ln w="12700">
            <a:solidFill>
              <a:srgbClr val="2E6DB4"/>
            </a:solidFill>
            <a:prstDash val="solid"/>
          </a:ln>
        </p:spPr>
      </p:sp>
      <p:sp>
        <p:nvSpPr>
          <p:cNvPr id="10" name="Text 8"/>
          <p:cNvSpPr/>
          <p:nvPr/>
        </p:nvSpPr>
        <p:spPr>
          <a:xfrm>
            <a:off x="338328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RMSE</a:t>
            </a:r>
            <a:endParaRPr lang="en-US" sz="950" dirty="0"/>
          </a:p>
        </p:txBody>
      </p:sp>
      <p:sp>
        <p:nvSpPr>
          <p:cNvPr id="11" name="Text 9"/>
          <p:cNvSpPr/>
          <p:nvPr/>
        </p:nvSpPr>
        <p:spPr>
          <a:xfrm>
            <a:off x="338328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0.1852</a:t>
            </a:r>
            <a:endParaRPr lang="en-US" sz="1800" dirty="0"/>
          </a:p>
        </p:txBody>
      </p:sp>
      <p:sp>
        <p:nvSpPr>
          <p:cNvPr id="12" name="Shape 10"/>
          <p:cNvSpPr/>
          <p:nvPr/>
        </p:nvSpPr>
        <p:spPr>
          <a:xfrm>
            <a:off x="6217920" y="1097280"/>
            <a:ext cx="2743200" cy="777240"/>
          </a:xfrm>
          <a:prstGeom prst="rect">
            <a:avLst/>
          </a:prstGeom>
          <a:solidFill>
            <a:srgbClr val="E8EDF5"/>
          </a:solidFill>
          <a:ln w="12700">
            <a:solidFill>
              <a:srgbClr val="2E6DB4"/>
            </a:solidFill>
            <a:prstDash val="solid"/>
          </a:ln>
        </p:spPr>
      </p:sp>
      <p:sp>
        <p:nvSpPr>
          <p:cNvPr id="13" name="Text 11"/>
          <p:cNvSpPr/>
          <p:nvPr/>
        </p:nvSpPr>
        <p:spPr>
          <a:xfrm>
            <a:off x="630936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MAE</a:t>
            </a:r>
            <a:endParaRPr lang="en-US" sz="950" dirty="0"/>
          </a:p>
        </p:txBody>
      </p:sp>
      <p:sp>
        <p:nvSpPr>
          <p:cNvPr id="14" name="Text 12"/>
          <p:cNvSpPr/>
          <p:nvPr/>
        </p:nvSpPr>
        <p:spPr>
          <a:xfrm>
            <a:off x="630936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0.1078</a:t>
            </a:r>
            <a:endParaRPr lang="en-US" sz="1800" dirty="0"/>
          </a:p>
        </p:txBody>
      </p:sp>
      <p:sp>
        <p:nvSpPr>
          <p:cNvPr id="15" name="Shape 13"/>
          <p:cNvSpPr/>
          <p:nvPr/>
        </p:nvSpPr>
        <p:spPr>
          <a:xfrm>
            <a:off x="9144000" y="1097280"/>
            <a:ext cx="2743200" cy="777240"/>
          </a:xfrm>
          <a:prstGeom prst="rect">
            <a:avLst/>
          </a:prstGeom>
          <a:solidFill>
            <a:srgbClr val="E8EDF5"/>
          </a:solidFill>
          <a:ln w="12700">
            <a:solidFill>
              <a:srgbClr val="2E6DB4"/>
            </a:solidFill>
            <a:prstDash val="solid"/>
          </a:ln>
        </p:spPr>
      </p:sp>
      <p:sp>
        <p:nvSpPr>
          <p:cNvPr id="16" name="Text 14"/>
          <p:cNvSpPr/>
          <p:nvPr/>
        </p:nvSpPr>
        <p:spPr>
          <a:xfrm>
            <a:off x="923544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Spearman ρ</a:t>
            </a:r>
            <a:endParaRPr lang="en-US" sz="950" dirty="0"/>
          </a:p>
        </p:txBody>
      </p:sp>
      <p:sp>
        <p:nvSpPr>
          <p:cNvPr id="17" name="Text 15"/>
          <p:cNvSpPr/>
          <p:nvPr/>
        </p:nvSpPr>
        <p:spPr>
          <a:xfrm>
            <a:off x="923544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−0.0441</a:t>
            </a:r>
            <a:endParaRPr lang="en-US" sz="1800" dirty="0"/>
          </a:p>
        </p:txBody>
      </p:sp>
      <p:sp>
        <p:nvSpPr>
          <p:cNvPr id="18" name="Text 16"/>
          <p:cNvSpPr/>
          <p:nvPr/>
        </p:nvSpPr>
        <p:spPr>
          <a:xfrm>
            <a:off x="365760" y="2057400"/>
            <a:ext cx="5120640" cy="347472"/>
          </a:xfrm>
          <a:prstGeom prst="rect">
            <a:avLst/>
          </a:prstGeom>
          <a:noFill/>
          <a:ln/>
        </p:spPr>
        <p:txBody>
          <a:bodyPr wrap="square" rtlCol="0" anchor="ctr"/>
          <a:lstStyle/>
          <a:p>
            <a:pPr indent="0" marL="0">
              <a:buNone/>
            </a:pPr>
            <a:r>
              <a:rPr lang="en-US" sz="1350" b="1" dirty="0">
                <a:solidFill>
                  <a:srgbClr val="2E6DB4"/>
                </a:solidFill>
                <a:latin typeface="Calibri" pitchFamily="34" charset="0"/>
                <a:ea typeface="Calibri" pitchFamily="34" charset="-122"/>
                <a:cs typeface="Calibri" pitchFamily="34" charset="-120"/>
              </a:rPr>
              <a:t>Key Findings</a:t>
            </a:r>
            <a:endParaRPr lang="en-US" sz="1350" dirty="0"/>
          </a:p>
        </p:txBody>
      </p:sp>
      <p:sp>
        <p:nvSpPr>
          <p:cNvPr id="19" name="Text 17"/>
          <p:cNvSpPr/>
          <p:nvPr/>
        </p:nvSpPr>
        <p:spPr>
          <a:xfrm>
            <a:off x="365760" y="2487168"/>
            <a:ext cx="5120640" cy="35661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Predictive accuracy is near zero — consistent with the empirical difficulty of forecasting cross-sectional returns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Momentum (Mom11, Mom12), size (log market cap), and book-to-market equity have the largest standardized coefficient magnitudes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Positive predictors: Mom11, Mom12, B/M</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Negative predictors: Log Market Cap, Amihud illiquidity, O/S ratio</a:t>
            </a:r>
            <a:endParaRPr lang="en-US" sz="1200" dirty="0"/>
          </a:p>
        </p:txBody>
      </p:sp>
      <p:sp>
        <p:nvSpPr>
          <p:cNvPr id="20" name="Text 18"/>
          <p:cNvSpPr/>
          <p:nvPr/>
        </p:nvSpPr>
        <p:spPr>
          <a:xfrm>
            <a:off x="5715000" y="2057400"/>
            <a:ext cx="612648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Standardized coefficient estimates (|coef| sorted, blue = positive, red = negative)</a:t>
            </a:r>
            <a:endParaRPr lang="en-US" sz="1050" dirty="0"/>
          </a:p>
        </p:txBody>
      </p:sp>
      <p:pic>
        <p:nvPicPr>
          <p:cNvPr id="21" name="Image 0" descr="C:/Users/hrwan/fin427/fin427report/report_latex/media/media/fig_ols_coefficients.png">    </p:cNvPr>
          <p:cNvPicPr>
            <a:picLocks noChangeAspect="1"/>
          </p:cNvPicPr>
          <p:nvPr/>
        </p:nvPicPr>
        <p:blipFill>
          <a:blip r:embed="rId1"/>
          <a:stretch>
            <a:fillRect/>
          </a:stretch>
        </p:blipFill>
        <p:spPr>
          <a:xfrm>
            <a:off x="5715000" y="2395728"/>
            <a:ext cx="6126480" cy="4160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LASSO Penalized Regression</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97280"/>
            <a:ext cx="2743200" cy="777240"/>
          </a:xfrm>
          <a:prstGeom prst="rect">
            <a:avLst/>
          </a:prstGeom>
          <a:solidFill>
            <a:srgbClr val="E8EDF5"/>
          </a:solidFill>
          <a:ln w="12700">
            <a:solidFill>
              <a:srgbClr val="2E6DB4"/>
            </a:solidFill>
            <a:prstDash val="solid"/>
          </a:ln>
        </p:spPr>
      </p:sp>
      <p:sp>
        <p:nvSpPr>
          <p:cNvPr id="7" name="Text 5"/>
          <p:cNvSpPr/>
          <p:nvPr/>
        </p:nvSpPr>
        <p:spPr>
          <a:xfrm>
            <a:off x="45720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R² (Test)</a:t>
            </a:r>
            <a:endParaRPr lang="en-US" sz="950" dirty="0"/>
          </a:p>
        </p:txBody>
      </p:sp>
      <p:sp>
        <p:nvSpPr>
          <p:cNvPr id="8" name="Text 6"/>
          <p:cNvSpPr/>
          <p:nvPr/>
        </p:nvSpPr>
        <p:spPr>
          <a:xfrm>
            <a:off x="45720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−0.0012</a:t>
            </a:r>
            <a:endParaRPr lang="en-US" sz="1800" dirty="0"/>
          </a:p>
        </p:txBody>
      </p:sp>
      <p:sp>
        <p:nvSpPr>
          <p:cNvPr id="9" name="Shape 7"/>
          <p:cNvSpPr/>
          <p:nvPr/>
        </p:nvSpPr>
        <p:spPr>
          <a:xfrm>
            <a:off x="3291840" y="1097280"/>
            <a:ext cx="2743200" cy="777240"/>
          </a:xfrm>
          <a:prstGeom prst="rect">
            <a:avLst/>
          </a:prstGeom>
          <a:solidFill>
            <a:srgbClr val="E8EDF5"/>
          </a:solidFill>
          <a:ln w="12700">
            <a:solidFill>
              <a:srgbClr val="2E6DB4"/>
            </a:solidFill>
            <a:prstDash val="solid"/>
          </a:ln>
        </p:spPr>
      </p:sp>
      <p:sp>
        <p:nvSpPr>
          <p:cNvPr id="10" name="Text 8"/>
          <p:cNvSpPr/>
          <p:nvPr/>
        </p:nvSpPr>
        <p:spPr>
          <a:xfrm>
            <a:off x="338328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Optimal α</a:t>
            </a:r>
            <a:endParaRPr lang="en-US" sz="950" dirty="0"/>
          </a:p>
        </p:txBody>
      </p:sp>
      <p:sp>
        <p:nvSpPr>
          <p:cNvPr id="11" name="Text 9"/>
          <p:cNvSpPr/>
          <p:nvPr/>
        </p:nvSpPr>
        <p:spPr>
          <a:xfrm>
            <a:off x="338328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0.00450</a:t>
            </a:r>
            <a:endParaRPr lang="en-US" sz="1800" dirty="0"/>
          </a:p>
        </p:txBody>
      </p:sp>
      <p:sp>
        <p:nvSpPr>
          <p:cNvPr id="12" name="Shape 10"/>
          <p:cNvSpPr/>
          <p:nvPr/>
        </p:nvSpPr>
        <p:spPr>
          <a:xfrm>
            <a:off x="6217920" y="1097280"/>
            <a:ext cx="2743200" cy="777240"/>
          </a:xfrm>
          <a:prstGeom prst="rect">
            <a:avLst/>
          </a:prstGeom>
          <a:solidFill>
            <a:srgbClr val="1B2A4A"/>
          </a:solidFill>
          <a:ln w="12700">
            <a:solidFill>
              <a:srgbClr val="1B2A4A"/>
            </a:solidFill>
            <a:prstDash val="solid"/>
          </a:ln>
        </p:spPr>
      </p:sp>
      <p:sp>
        <p:nvSpPr>
          <p:cNvPr id="13" name="Text 11"/>
          <p:cNvSpPr/>
          <p:nvPr/>
        </p:nvSpPr>
        <p:spPr>
          <a:xfrm>
            <a:off x="6309360" y="1143000"/>
            <a:ext cx="2560320" cy="256032"/>
          </a:xfrm>
          <a:prstGeom prst="rect">
            <a:avLst/>
          </a:prstGeom>
          <a:noFill/>
          <a:ln/>
        </p:spPr>
        <p:txBody>
          <a:bodyPr wrap="square" rtlCol="0" anchor="ctr"/>
          <a:lstStyle/>
          <a:p>
            <a:pPr indent="0" marL="0">
              <a:buNone/>
            </a:pPr>
            <a:r>
              <a:rPr lang="en-US" sz="950" dirty="0">
                <a:solidFill>
                  <a:srgbClr val="A8C0D6"/>
                </a:solidFill>
                <a:latin typeface="Calibri" pitchFamily="34" charset="0"/>
                <a:ea typeface="Calibri" pitchFamily="34" charset="-122"/>
                <a:cs typeface="Calibri" pitchFamily="34" charset="-120"/>
              </a:rPr>
              <a:t>Predictors Zeroed</a:t>
            </a:r>
            <a:endParaRPr lang="en-US" sz="950" dirty="0"/>
          </a:p>
        </p:txBody>
      </p:sp>
      <p:sp>
        <p:nvSpPr>
          <p:cNvPr id="14" name="Text 12"/>
          <p:cNvSpPr/>
          <p:nvPr/>
        </p:nvSpPr>
        <p:spPr>
          <a:xfrm>
            <a:off x="6309360" y="1371600"/>
            <a:ext cx="2560320" cy="42976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13 of 15</a:t>
            </a:r>
            <a:endParaRPr lang="en-US" sz="1800" dirty="0"/>
          </a:p>
        </p:txBody>
      </p:sp>
      <p:sp>
        <p:nvSpPr>
          <p:cNvPr id="15" name="Shape 13"/>
          <p:cNvSpPr/>
          <p:nvPr/>
        </p:nvSpPr>
        <p:spPr>
          <a:xfrm>
            <a:off x="9144000" y="1097280"/>
            <a:ext cx="2743200" cy="777240"/>
          </a:xfrm>
          <a:prstGeom prst="rect">
            <a:avLst/>
          </a:prstGeom>
          <a:solidFill>
            <a:srgbClr val="E8EDF5"/>
          </a:solidFill>
          <a:ln w="12700">
            <a:solidFill>
              <a:srgbClr val="2E6DB4"/>
            </a:solidFill>
            <a:prstDash val="solid"/>
          </a:ln>
        </p:spPr>
      </p:sp>
      <p:sp>
        <p:nvSpPr>
          <p:cNvPr id="16" name="Text 14"/>
          <p:cNvSpPr/>
          <p:nvPr/>
        </p:nvSpPr>
        <p:spPr>
          <a:xfrm>
            <a:off x="923544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Spearman ρ</a:t>
            </a:r>
            <a:endParaRPr lang="en-US" sz="950" dirty="0"/>
          </a:p>
        </p:txBody>
      </p:sp>
      <p:sp>
        <p:nvSpPr>
          <p:cNvPr id="17" name="Text 15"/>
          <p:cNvSpPr/>
          <p:nvPr/>
        </p:nvSpPr>
        <p:spPr>
          <a:xfrm>
            <a:off x="923544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−0.0576</a:t>
            </a:r>
            <a:endParaRPr lang="en-US" sz="1800" dirty="0"/>
          </a:p>
        </p:txBody>
      </p:sp>
      <p:sp>
        <p:nvSpPr>
          <p:cNvPr id="18" name="Text 16"/>
          <p:cNvSpPr/>
          <p:nvPr/>
        </p:nvSpPr>
        <p:spPr>
          <a:xfrm>
            <a:off x="365760" y="2057400"/>
            <a:ext cx="5120640" cy="347472"/>
          </a:xfrm>
          <a:prstGeom prst="rect">
            <a:avLst/>
          </a:prstGeom>
          <a:noFill/>
          <a:ln/>
        </p:spPr>
        <p:txBody>
          <a:bodyPr wrap="square" rtlCol="0" anchor="ctr"/>
          <a:lstStyle/>
          <a:p>
            <a:pPr indent="0" marL="0">
              <a:buNone/>
            </a:pPr>
            <a:r>
              <a:rPr lang="en-US" sz="1350" b="1" dirty="0">
                <a:solidFill>
                  <a:srgbClr val="2E6DB4"/>
                </a:solidFill>
                <a:latin typeface="Calibri" pitchFamily="34" charset="0"/>
                <a:ea typeface="Calibri" pitchFamily="34" charset="-122"/>
                <a:cs typeface="Calibri" pitchFamily="34" charset="-120"/>
              </a:rPr>
              <a:t>Key Findings</a:t>
            </a:r>
            <a:endParaRPr lang="en-US" sz="1350" dirty="0"/>
          </a:p>
        </p:txBody>
      </p:sp>
      <p:sp>
        <p:nvSpPr>
          <p:cNvPr id="19" name="Text 17"/>
          <p:cNvSpPr/>
          <p:nvPr/>
        </p:nvSpPr>
        <p:spPr>
          <a:xfrm>
            <a:off x="365760" y="2487168"/>
            <a:ext cx="5120640" cy="35661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LASSO variable selection: only 2 of 15 predictors survive with non-zero coefficients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Surviving predictors: Log Market Cap and Book-to-Market equity only</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Performance virtually identical to OLS — additional features contribute mostly noise</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Stark result: 87% of predictors are irrelevant under regularization</a:t>
            </a:r>
            <a:endParaRPr lang="en-US" sz="1200" dirty="0"/>
          </a:p>
        </p:txBody>
      </p:sp>
      <p:sp>
        <p:nvSpPr>
          <p:cNvPr id="20" name="Text 18"/>
          <p:cNvSpPr/>
          <p:nvPr/>
        </p:nvSpPr>
        <p:spPr>
          <a:xfrm>
            <a:off x="5715000" y="2057400"/>
            <a:ext cx="612648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LASSO regularization path — dashed line marks cross-validated optimal α</a:t>
            </a:r>
            <a:endParaRPr lang="en-US" sz="1050" dirty="0"/>
          </a:p>
        </p:txBody>
      </p:sp>
      <p:pic>
        <p:nvPicPr>
          <p:cNvPr id="21" name="Image 0" descr="C:/Users/hrwan/fin427/fin427report/report_latex/media/media/fig_lasso_path.png">    </p:cNvPr>
          <p:cNvPicPr>
            <a:picLocks noChangeAspect="1"/>
          </p:cNvPicPr>
          <p:nvPr/>
        </p:nvPicPr>
        <p:blipFill>
          <a:blip r:embed="rId1"/>
          <a:stretch>
            <a:fillRect/>
          </a:stretch>
        </p:blipFill>
        <p:spPr>
          <a:xfrm>
            <a:off x="5715000" y="2395728"/>
            <a:ext cx="6126480" cy="416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Vanilla Decision Tree</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97280"/>
            <a:ext cx="2743200" cy="777240"/>
          </a:xfrm>
          <a:prstGeom prst="rect">
            <a:avLst/>
          </a:prstGeom>
          <a:solidFill>
            <a:srgbClr val="E8EDF5"/>
          </a:solidFill>
          <a:ln w="12700">
            <a:solidFill>
              <a:srgbClr val="2E6DB4"/>
            </a:solidFill>
            <a:prstDash val="solid"/>
          </a:ln>
        </p:spPr>
      </p:sp>
      <p:sp>
        <p:nvSpPr>
          <p:cNvPr id="7" name="Text 5"/>
          <p:cNvSpPr/>
          <p:nvPr/>
        </p:nvSpPr>
        <p:spPr>
          <a:xfrm>
            <a:off x="45720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R² (Test)</a:t>
            </a:r>
            <a:endParaRPr lang="en-US" sz="950" dirty="0"/>
          </a:p>
        </p:txBody>
      </p:sp>
      <p:sp>
        <p:nvSpPr>
          <p:cNvPr id="8" name="Text 6"/>
          <p:cNvSpPr/>
          <p:nvPr/>
        </p:nvSpPr>
        <p:spPr>
          <a:xfrm>
            <a:off x="45720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−0.0095</a:t>
            </a:r>
            <a:endParaRPr lang="en-US" sz="1800" dirty="0"/>
          </a:p>
        </p:txBody>
      </p:sp>
      <p:sp>
        <p:nvSpPr>
          <p:cNvPr id="9" name="Shape 7"/>
          <p:cNvSpPr/>
          <p:nvPr/>
        </p:nvSpPr>
        <p:spPr>
          <a:xfrm>
            <a:off x="3291840" y="1097280"/>
            <a:ext cx="2743200" cy="777240"/>
          </a:xfrm>
          <a:prstGeom prst="rect">
            <a:avLst/>
          </a:prstGeom>
          <a:solidFill>
            <a:srgbClr val="E8EDF5"/>
          </a:solidFill>
          <a:ln w="12700">
            <a:solidFill>
              <a:srgbClr val="2E6DB4"/>
            </a:solidFill>
            <a:prstDash val="solid"/>
          </a:ln>
        </p:spPr>
      </p:sp>
      <p:sp>
        <p:nvSpPr>
          <p:cNvPr id="10" name="Text 8"/>
          <p:cNvSpPr/>
          <p:nvPr/>
        </p:nvSpPr>
        <p:spPr>
          <a:xfrm>
            <a:off x="338328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Optimal Depth</a:t>
            </a:r>
            <a:endParaRPr lang="en-US" sz="950" dirty="0"/>
          </a:p>
        </p:txBody>
      </p:sp>
      <p:sp>
        <p:nvSpPr>
          <p:cNvPr id="11" name="Text 9"/>
          <p:cNvSpPr/>
          <p:nvPr/>
        </p:nvSpPr>
        <p:spPr>
          <a:xfrm>
            <a:off x="338328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3</a:t>
            </a:r>
            <a:endParaRPr lang="en-US" sz="1800" dirty="0"/>
          </a:p>
        </p:txBody>
      </p:sp>
      <p:sp>
        <p:nvSpPr>
          <p:cNvPr id="12" name="Shape 10"/>
          <p:cNvSpPr/>
          <p:nvPr/>
        </p:nvSpPr>
        <p:spPr>
          <a:xfrm>
            <a:off x="6217920" y="1097280"/>
            <a:ext cx="2743200" cy="777240"/>
          </a:xfrm>
          <a:prstGeom prst="rect">
            <a:avLst/>
          </a:prstGeom>
          <a:solidFill>
            <a:srgbClr val="E8EDF5"/>
          </a:solidFill>
          <a:ln w="12700">
            <a:solidFill>
              <a:srgbClr val="2E6DB4"/>
            </a:solidFill>
            <a:prstDash val="solid"/>
          </a:ln>
        </p:spPr>
      </p:sp>
      <p:sp>
        <p:nvSpPr>
          <p:cNvPr id="13" name="Text 11"/>
          <p:cNvSpPr/>
          <p:nvPr/>
        </p:nvSpPr>
        <p:spPr>
          <a:xfrm>
            <a:off x="630936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Val. R²</a:t>
            </a:r>
            <a:endParaRPr lang="en-US" sz="950" dirty="0"/>
          </a:p>
        </p:txBody>
      </p:sp>
      <p:sp>
        <p:nvSpPr>
          <p:cNvPr id="14" name="Text 12"/>
          <p:cNvSpPr/>
          <p:nvPr/>
        </p:nvSpPr>
        <p:spPr>
          <a:xfrm>
            <a:off x="630936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0.0032</a:t>
            </a:r>
            <a:endParaRPr lang="en-US" sz="1800" dirty="0"/>
          </a:p>
        </p:txBody>
      </p:sp>
      <p:sp>
        <p:nvSpPr>
          <p:cNvPr id="15" name="Shape 13"/>
          <p:cNvSpPr/>
          <p:nvPr/>
        </p:nvSpPr>
        <p:spPr>
          <a:xfrm>
            <a:off x="9144000" y="1097280"/>
            <a:ext cx="2743200" cy="777240"/>
          </a:xfrm>
          <a:prstGeom prst="rect">
            <a:avLst/>
          </a:prstGeom>
          <a:solidFill>
            <a:srgbClr val="E8EDF5"/>
          </a:solidFill>
          <a:ln w="12700">
            <a:solidFill>
              <a:srgbClr val="2E6DB4"/>
            </a:solidFill>
            <a:prstDash val="solid"/>
          </a:ln>
        </p:spPr>
      </p:sp>
      <p:sp>
        <p:nvSpPr>
          <p:cNvPr id="16" name="Text 14"/>
          <p:cNvSpPr/>
          <p:nvPr/>
        </p:nvSpPr>
        <p:spPr>
          <a:xfrm>
            <a:off x="923544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Top Splitter</a:t>
            </a:r>
            <a:endParaRPr lang="en-US" sz="950" dirty="0"/>
          </a:p>
        </p:txBody>
      </p:sp>
      <p:sp>
        <p:nvSpPr>
          <p:cNvPr id="17" name="Text 15"/>
          <p:cNvSpPr/>
          <p:nvPr/>
        </p:nvSpPr>
        <p:spPr>
          <a:xfrm>
            <a:off x="923544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Mom12</a:t>
            </a:r>
            <a:endParaRPr lang="en-US" sz="1800" dirty="0"/>
          </a:p>
        </p:txBody>
      </p:sp>
      <p:sp>
        <p:nvSpPr>
          <p:cNvPr id="18" name="Text 16"/>
          <p:cNvSpPr/>
          <p:nvPr/>
        </p:nvSpPr>
        <p:spPr>
          <a:xfrm>
            <a:off x="365760" y="2057400"/>
            <a:ext cx="5120640" cy="347472"/>
          </a:xfrm>
          <a:prstGeom prst="rect">
            <a:avLst/>
          </a:prstGeom>
          <a:noFill/>
          <a:ln/>
        </p:spPr>
        <p:txBody>
          <a:bodyPr wrap="square" rtlCol="0" anchor="ctr"/>
          <a:lstStyle/>
          <a:p>
            <a:pPr indent="0" marL="0">
              <a:buNone/>
            </a:pPr>
            <a:r>
              <a:rPr lang="en-US" sz="1350" b="1" dirty="0">
                <a:solidFill>
                  <a:srgbClr val="2E6DB4"/>
                </a:solidFill>
                <a:latin typeface="Calibri" pitchFamily="34" charset="0"/>
                <a:ea typeface="Calibri" pitchFamily="34" charset="-122"/>
                <a:cs typeface="Calibri" pitchFamily="34" charset="-120"/>
              </a:rPr>
              <a:t>Key Findings</a:t>
            </a:r>
            <a:endParaRPr lang="en-US" sz="1350" dirty="0"/>
          </a:p>
        </p:txBody>
      </p:sp>
      <p:sp>
        <p:nvSpPr>
          <p:cNvPr id="19" name="Text 17"/>
          <p:cNvSpPr/>
          <p:nvPr/>
        </p:nvSpPr>
        <p:spPr>
          <a:xfrm>
            <a:off x="365760" y="2487168"/>
            <a:ext cx="5120640" cy="35661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Max depth = 3 selected via validation-set grid search — prevents severe overfitting</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12-month momentum (finmom12) is the most important splitting feature across all branches</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Worst out-of-sample R² among all models, but the simple structure reveals momentum’s dominance clearly</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Shallow depth limits ability to capture complex variable interactions</a:t>
            </a:r>
            <a:endParaRPr lang="en-US" sz="1200" dirty="0"/>
          </a:p>
        </p:txBody>
      </p:sp>
      <p:sp>
        <p:nvSpPr>
          <p:cNvPr id="20" name="Text 18"/>
          <p:cNvSpPr/>
          <p:nvPr/>
        </p:nvSpPr>
        <p:spPr>
          <a:xfrm>
            <a:off x="5715000" y="2057400"/>
            <a:ext cx="612648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Feature importances (mean decrease in impurity) — only features assigned non-zero importance shown</a:t>
            </a:r>
            <a:endParaRPr lang="en-US" sz="1050" dirty="0"/>
          </a:p>
        </p:txBody>
      </p:sp>
      <p:pic>
        <p:nvPicPr>
          <p:cNvPr id="21" name="Image 0" descr="C:/Users/hrwan/fin427/fin427report/report_latex/media/media/fig_tree_importance.png">    </p:cNvPr>
          <p:cNvPicPr>
            <a:picLocks noChangeAspect="1"/>
          </p:cNvPicPr>
          <p:nvPr/>
        </p:nvPicPr>
        <p:blipFill>
          <a:blip r:embed="rId1"/>
          <a:stretch>
            <a:fillRect/>
          </a:stretch>
        </p:blipFill>
        <p:spPr>
          <a:xfrm>
            <a:off x="5715000" y="2395728"/>
            <a:ext cx="6126480" cy="4160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Random Forest</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97280"/>
            <a:ext cx="2743200" cy="777240"/>
          </a:xfrm>
          <a:prstGeom prst="rect">
            <a:avLst/>
          </a:prstGeom>
          <a:solidFill>
            <a:srgbClr val="E8EDF5"/>
          </a:solidFill>
          <a:ln w="12700">
            <a:solidFill>
              <a:srgbClr val="2E6DB4"/>
            </a:solidFill>
            <a:prstDash val="solid"/>
          </a:ln>
        </p:spPr>
      </p:sp>
      <p:sp>
        <p:nvSpPr>
          <p:cNvPr id="7" name="Text 5"/>
          <p:cNvSpPr/>
          <p:nvPr/>
        </p:nvSpPr>
        <p:spPr>
          <a:xfrm>
            <a:off x="45720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R² (Test)</a:t>
            </a:r>
            <a:endParaRPr lang="en-US" sz="950" dirty="0"/>
          </a:p>
        </p:txBody>
      </p:sp>
      <p:sp>
        <p:nvSpPr>
          <p:cNvPr id="8" name="Text 6"/>
          <p:cNvSpPr/>
          <p:nvPr/>
        </p:nvSpPr>
        <p:spPr>
          <a:xfrm>
            <a:off x="45720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−0.0090</a:t>
            </a:r>
            <a:endParaRPr lang="en-US" sz="1800" dirty="0"/>
          </a:p>
        </p:txBody>
      </p:sp>
      <p:sp>
        <p:nvSpPr>
          <p:cNvPr id="9" name="Shape 7"/>
          <p:cNvSpPr/>
          <p:nvPr/>
        </p:nvSpPr>
        <p:spPr>
          <a:xfrm>
            <a:off x="3291840" y="1097280"/>
            <a:ext cx="2743200" cy="777240"/>
          </a:xfrm>
          <a:prstGeom prst="rect">
            <a:avLst/>
          </a:prstGeom>
          <a:solidFill>
            <a:srgbClr val="E8EDF5"/>
          </a:solidFill>
          <a:ln w="12700">
            <a:solidFill>
              <a:srgbClr val="2E6DB4"/>
            </a:solidFill>
            <a:prstDash val="solid"/>
          </a:ln>
        </p:spPr>
      </p:sp>
      <p:sp>
        <p:nvSpPr>
          <p:cNvPr id="10" name="Text 8"/>
          <p:cNvSpPr/>
          <p:nvPr/>
        </p:nvSpPr>
        <p:spPr>
          <a:xfrm>
            <a:off x="338328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Trees</a:t>
            </a:r>
            <a:endParaRPr lang="en-US" sz="950" dirty="0"/>
          </a:p>
        </p:txBody>
      </p:sp>
      <p:sp>
        <p:nvSpPr>
          <p:cNvPr id="11" name="Text 9"/>
          <p:cNvSpPr/>
          <p:nvPr/>
        </p:nvSpPr>
        <p:spPr>
          <a:xfrm>
            <a:off x="338328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200</a:t>
            </a:r>
            <a:endParaRPr lang="en-US" sz="1800" dirty="0"/>
          </a:p>
        </p:txBody>
      </p:sp>
      <p:sp>
        <p:nvSpPr>
          <p:cNvPr id="12" name="Shape 10"/>
          <p:cNvSpPr/>
          <p:nvPr/>
        </p:nvSpPr>
        <p:spPr>
          <a:xfrm>
            <a:off x="6217920" y="1097280"/>
            <a:ext cx="2743200" cy="777240"/>
          </a:xfrm>
          <a:prstGeom prst="rect">
            <a:avLst/>
          </a:prstGeom>
          <a:solidFill>
            <a:srgbClr val="E8EDF5"/>
          </a:solidFill>
          <a:ln w="12700">
            <a:solidFill>
              <a:srgbClr val="2E6DB4"/>
            </a:solidFill>
            <a:prstDash val="solid"/>
          </a:ln>
        </p:spPr>
      </p:sp>
      <p:sp>
        <p:nvSpPr>
          <p:cNvPr id="13" name="Text 11"/>
          <p:cNvSpPr/>
          <p:nvPr/>
        </p:nvSpPr>
        <p:spPr>
          <a:xfrm>
            <a:off x="630936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Max Depth</a:t>
            </a:r>
            <a:endParaRPr lang="en-US" sz="950" dirty="0"/>
          </a:p>
        </p:txBody>
      </p:sp>
      <p:sp>
        <p:nvSpPr>
          <p:cNvPr id="14" name="Text 12"/>
          <p:cNvSpPr/>
          <p:nvPr/>
        </p:nvSpPr>
        <p:spPr>
          <a:xfrm>
            <a:off x="630936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10</a:t>
            </a:r>
            <a:endParaRPr lang="en-US" sz="1800" dirty="0"/>
          </a:p>
        </p:txBody>
      </p:sp>
      <p:sp>
        <p:nvSpPr>
          <p:cNvPr id="15" name="Shape 13"/>
          <p:cNvSpPr/>
          <p:nvPr/>
        </p:nvSpPr>
        <p:spPr>
          <a:xfrm>
            <a:off x="9144000" y="1097280"/>
            <a:ext cx="2743200" cy="777240"/>
          </a:xfrm>
          <a:prstGeom prst="rect">
            <a:avLst/>
          </a:prstGeom>
          <a:solidFill>
            <a:srgbClr val="E8EDF5"/>
          </a:solidFill>
          <a:ln w="12700">
            <a:solidFill>
              <a:srgbClr val="2E6DB4"/>
            </a:solidFill>
            <a:prstDash val="solid"/>
          </a:ln>
        </p:spPr>
      </p:sp>
      <p:sp>
        <p:nvSpPr>
          <p:cNvPr id="16" name="Text 14"/>
          <p:cNvSpPr/>
          <p:nvPr/>
        </p:nvSpPr>
        <p:spPr>
          <a:xfrm>
            <a:off x="923544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Max Features</a:t>
            </a:r>
            <a:endParaRPr lang="en-US" sz="950" dirty="0"/>
          </a:p>
        </p:txBody>
      </p:sp>
      <p:sp>
        <p:nvSpPr>
          <p:cNvPr id="17" name="Text 15"/>
          <p:cNvSpPr/>
          <p:nvPr/>
        </p:nvSpPr>
        <p:spPr>
          <a:xfrm>
            <a:off x="923544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√n</a:t>
            </a:r>
            <a:endParaRPr lang="en-US" sz="1800" dirty="0"/>
          </a:p>
        </p:txBody>
      </p:sp>
      <p:sp>
        <p:nvSpPr>
          <p:cNvPr id="18" name="Text 16"/>
          <p:cNvSpPr/>
          <p:nvPr/>
        </p:nvSpPr>
        <p:spPr>
          <a:xfrm>
            <a:off x="365760" y="2057400"/>
            <a:ext cx="5120640" cy="347472"/>
          </a:xfrm>
          <a:prstGeom prst="rect">
            <a:avLst/>
          </a:prstGeom>
          <a:noFill/>
          <a:ln/>
        </p:spPr>
        <p:txBody>
          <a:bodyPr wrap="square" rtlCol="0" anchor="ctr"/>
          <a:lstStyle/>
          <a:p>
            <a:pPr indent="0" marL="0">
              <a:buNone/>
            </a:pPr>
            <a:r>
              <a:rPr lang="en-US" sz="1350" b="1" dirty="0">
                <a:solidFill>
                  <a:srgbClr val="2E6DB4"/>
                </a:solidFill>
                <a:latin typeface="Calibri" pitchFamily="34" charset="0"/>
                <a:ea typeface="Calibri" pitchFamily="34" charset="-122"/>
                <a:cs typeface="Calibri" pitchFamily="34" charset="-120"/>
              </a:rPr>
              <a:t>Key Findings</a:t>
            </a:r>
            <a:endParaRPr lang="en-US" sz="1350" dirty="0"/>
          </a:p>
        </p:txBody>
      </p:sp>
      <p:sp>
        <p:nvSpPr>
          <p:cNvPr id="19" name="Text 17"/>
          <p:cNvSpPr/>
          <p:nvPr/>
        </p:nvSpPr>
        <p:spPr>
          <a:xfrm>
            <a:off x="365760" y="2487168"/>
            <a:ext cx="5120640" cy="35661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Optimal hyperparameters via grid search: n=200 trees, depth=10, features=√n</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Validation R² = 0.0054 — best among tree-based methods during tuning</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Ensemble averaging reduces variance vs. single tree, but out-of-sample improvement is marginal</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Momentum (finmom12) again dominates feature importance; B/M and size are secondary</a:t>
            </a:r>
            <a:endParaRPr lang="en-US" sz="1200" dirty="0"/>
          </a:p>
        </p:txBody>
      </p:sp>
      <p:sp>
        <p:nvSpPr>
          <p:cNvPr id="20" name="Text 18"/>
          <p:cNvSpPr/>
          <p:nvPr/>
        </p:nvSpPr>
        <p:spPr>
          <a:xfrm>
            <a:off x="5715000" y="2057400"/>
            <a:ext cx="612648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Feature importances (mean decrease in impurity, top 15, normalized to sum to 1)</a:t>
            </a:r>
            <a:endParaRPr lang="en-US" sz="1050" dirty="0"/>
          </a:p>
        </p:txBody>
      </p:sp>
      <p:pic>
        <p:nvPicPr>
          <p:cNvPr id="21" name="Image 0" descr="C:/Users/hrwan/fin427/fin427report/report_latex/media/media/fig_rf_importance.png">    </p:cNvPr>
          <p:cNvPicPr>
            <a:picLocks noChangeAspect="1"/>
          </p:cNvPicPr>
          <p:nvPr/>
        </p:nvPicPr>
        <p:blipFill>
          <a:blip r:embed="rId1"/>
          <a:stretch>
            <a:fillRect/>
          </a:stretch>
        </p:blipFill>
        <p:spPr>
          <a:xfrm>
            <a:off x="5715000" y="2395728"/>
            <a:ext cx="6126480" cy="4160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Gradient Boosting (XGBoost)</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97280"/>
            <a:ext cx="2743200" cy="777240"/>
          </a:xfrm>
          <a:prstGeom prst="rect">
            <a:avLst/>
          </a:prstGeom>
          <a:solidFill>
            <a:srgbClr val="1B2A4A"/>
          </a:solidFill>
          <a:ln w="12700">
            <a:solidFill>
              <a:srgbClr val="1B2A4A"/>
            </a:solidFill>
            <a:prstDash val="solid"/>
          </a:ln>
        </p:spPr>
      </p:sp>
      <p:sp>
        <p:nvSpPr>
          <p:cNvPr id="7" name="Text 5"/>
          <p:cNvSpPr/>
          <p:nvPr/>
        </p:nvSpPr>
        <p:spPr>
          <a:xfrm>
            <a:off x="457200" y="1143000"/>
            <a:ext cx="2560320" cy="256032"/>
          </a:xfrm>
          <a:prstGeom prst="rect">
            <a:avLst/>
          </a:prstGeom>
          <a:noFill/>
          <a:ln/>
        </p:spPr>
        <p:txBody>
          <a:bodyPr wrap="square" rtlCol="0" anchor="ctr"/>
          <a:lstStyle/>
          <a:p>
            <a:pPr indent="0" marL="0">
              <a:buNone/>
            </a:pPr>
            <a:r>
              <a:rPr lang="en-US" sz="950" dirty="0">
                <a:solidFill>
                  <a:srgbClr val="A8C0D6"/>
                </a:solidFill>
                <a:latin typeface="Calibri" pitchFamily="34" charset="0"/>
                <a:ea typeface="Calibri" pitchFamily="34" charset="-122"/>
                <a:cs typeface="Calibri" pitchFamily="34" charset="-120"/>
              </a:rPr>
              <a:t>R² (Test)</a:t>
            </a:r>
            <a:endParaRPr lang="en-US" sz="950" dirty="0"/>
          </a:p>
        </p:txBody>
      </p:sp>
      <p:sp>
        <p:nvSpPr>
          <p:cNvPr id="8" name="Text 6"/>
          <p:cNvSpPr/>
          <p:nvPr/>
        </p:nvSpPr>
        <p:spPr>
          <a:xfrm>
            <a:off x="457200" y="1371600"/>
            <a:ext cx="2560320" cy="42976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−0.0041</a:t>
            </a:r>
            <a:endParaRPr lang="en-US" sz="1800" dirty="0"/>
          </a:p>
        </p:txBody>
      </p:sp>
      <p:sp>
        <p:nvSpPr>
          <p:cNvPr id="9" name="Shape 7"/>
          <p:cNvSpPr/>
          <p:nvPr/>
        </p:nvSpPr>
        <p:spPr>
          <a:xfrm>
            <a:off x="3291840" y="1097280"/>
            <a:ext cx="2743200" cy="777240"/>
          </a:xfrm>
          <a:prstGeom prst="rect">
            <a:avLst/>
          </a:prstGeom>
          <a:solidFill>
            <a:srgbClr val="1B2A4A"/>
          </a:solidFill>
          <a:ln w="12700">
            <a:solidFill>
              <a:srgbClr val="1B2A4A"/>
            </a:solidFill>
            <a:prstDash val="solid"/>
          </a:ln>
        </p:spPr>
      </p:sp>
      <p:sp>
        <p:nvSpPr>
          <p:cNvPr id="10" name="Text 8"/>
          <p:cNvSpPr/>
          <p:nvPr/>
        </p:nvSpPr>
        <p:spPr>
          <a:xfrm>
            <a:off x="3383280" y="1143000"/>
            <a:ext cx="2560320" cy="256032"/>
          </a:xfrm>
          <a:prstGeom prst="rect">
            <a:avLst/>
          </a:prstGeom>
          <a:noFill/>
          <a:ln/>
        </p:spPr>
        <p:txBody>
          <a:bodyPr wrap="square" rtlCol="0" anchor="ctr"/>
          <a:lstStyle/>
          <a:p>
            <a:pPr indent="0" marL="0">
              <a:buNone/>
            </a:pPr>
            <a:r>
              <a:rPr lang="en-US" sz="950" dirty="0">
                <a:solidFill>
                  <a:srgbClr val="A8C0D6"/>
                </a:solidFill>
                <a:latin typeface="Calibri" pitchFamily="34" charset="0"/>
                <a:ea typeface="Calibri" pitchFamily="34" charset="-122"/>
                <a:cs typeface="Calibri" pitchFamily="34" charset="-120"/>
              </a:rPr>
              <a:t>Best R² (All)</a:t>
            </a:r>
            <a:endParaRPr lang="en-US" sz="950" dirty="0"/>
          </a:p>
        </p:txBody>
      </p:sp>
      <p:sp>
        <p:nvSpPr>
          <p:cNvPr id="11" name="Text 9"/>
          <p:cNvSpPr/>
          <p:nvPr/>
        </p:nvSpPr>
        <p:spPr>
          <a:xfrm>
            <a:off x="3383280" y="1371600"/>
            <a:ext cx="2560320" cy="42976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 of 6</a:t>
            </a:r>
            <a:endParaRPr lang="en-US" sz="1800" dirty="0"/>
          </a:p>
        </p:txBody>
      </p:sp>
      <p:sp>
        <p:nvSpPr>
          <p:cNvPr id="12" name="Shape 10"/>
          <p:cNvSpPr/>
          <p:nvPr/>
        </p:nvSpPr>
        <p:spPr>
          <a:xfrm>
            <a:off x="6217920" y="1097280"/>
            <a:ext cx="2743200" cy="777240"/>
          </a:xfrm>
          <a:prstGeom prst="rect">
            <a:avLst/>
          </a:prstGeom>
          <a:solidFill>
            <a:srgbClr val="E8EDF5"/>
          </a:solidFill>
          <a:ln w="12700">
            <a:solidFill>
              <a:srgbClr val="2E6DB4"/>
            </a:solidFill>
            <a:prstDash val="solid"/>
          </a:ln>
        </p:spPr>
      </p:sp>
      <p:sp>
        <p:nvSpPr>
          <p:cNvPr id="13" name="Text 11"/>
          <p:cNvSpPr/>
          <p:nvPr/>
        </p:nvSpPr>
        <p:spPr>
          <a:xfrm>
            <a:off x="630936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Stopped At</a:t>
            </a:r>
            <a:endParaRPr lang="en-US" sz="950" dirty="0"/>
          </a:p>
        </p:txBody>
      </p:sp>
      <p:sp>
        <p:nvSpPr>
          <p:cNvPr id="14" name="Text 12"/>
          <p:cNvSpPr/>
          <p:nvPr/>
        </p:nvSpPr>
        <p:spPr>
          <a:xfrm>
            <a:off x="630936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Iter 79</a:t>
            </a:r>
            <a:endParaRPr lang="en-US" sz="1800" dirty="0"/>
          </a:p>
        </p:txBody>
      </p:sp>
      <p:sp>
        <p:nvSpPr>
          <p:cNvPr id="15" name="Shape 13"/>
          <p:cNvSpPr/>
          <p:nvPr/>
        </p:nvSpPr>
        <p:spPr>
          <a:xfrm>
            <a:off x="9144000" y="1097280"/>
            <a:ext cx="2743200" cy="777240"/>
          </a:xfrm>
          <a:prstGeom prst="rect">
            <a:avLst/>
          </a:prstGeom>
          <a:solidFill>
            <a:srgbClr val="E8EDF5"/>
          </a:solidFill>
          <a:ln w="12700">
            <a:solidFill>
              <a:srgbClr val="2E6DB4"/>
            </a:solidFill>
            <a:prstDash val="solid"/>
          </a:ln>
        </p:spPr>
      </p:sp>
      <p:sp>
        <p:nvSpPr>
          <p:cNvPr id="16" name="Text 14"/>
          <p:cNvSpPr/>
          <p:nvPr/>
        </p:nvSpPr>
        <p:spPr>
          <a:xfrm>
            <a:off x="923544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Spearman ρ</a:t>
            </a:r>
            <a:endParaRPr lang="en-US" sz="950" dirty="0"/>
          </a:p>
        </p:txBody>
      </p:sp>
      <p:sp>
        <p:nvSpPr>
          <p:cNvPr id="17" name="Text 15"/>
          <p:cNvSpPr/>
          <p:nvPr/>
        </p:nvSpPr>
        <p:spPr>
          <a:xfrm>
            <a:off x="923544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+0.0014</a:t>
            </a:r>
            <a:endParaRPr lang="en-US" sz="1800" dirty="0"/>
          </a:p>
        </p:txBody>
      </p:sp>
      <p:sp>
        <p:nvSpPr>
          <p:cNvPr id="18" name="Text 16"/>
          <p:cNvSpPr/>
          <p:nvPr/>
        </p:nvSpPr>
        <p:spPr>
          <a:xfrm>
            <a:off x="365760" y="2057400"/>
            <a:ext cx="5120640" cy="347472"/>
          </a:xfrm>
          <a:prstGeom prst="rect">
            <a:avLst/>
          </a:prstGeom>
          <a:noFill/>
          <a:ln/>
        </p:spPr>
        <p:txBody>
          <a:bodyPr wrap="square" rtlCol="0" anchor="ctr"/>
          <a:lstStyle/>
          <a:p>
            <a:pPr indent="0" marL="0">
              <a:buNone/>
            </a:pPr>
            <a:r>
              <a:rPr lang="en-US" sz="1350" b="1" dirty="0">
                <a:solidFill>
                  <a:srgbClr val="2E6DB4"/>
                </a:solidFill>
                <a:latin typeface="Calibri" pitchFamily="34" charset="0"/>
                <a:ea typeface="Calibri" pitchFamily="34" charset="-122"/>
                <a:cs typeface="Calibri" pitchFamily="34" charset="-120"/>
              </a:rPr>
              <a:t>Key Findings</a:t>
            </a:r>
            <a:endParaRPr lang="en-US" sz="1350" dirty="0"/>
          </a:p>
        </p:txBody>
      </p:sp>
      <p:sp>
        <p:nvSpPr>
          <p:cNvPr id="19" name="Text 17"/>
          <p:cNvSpPr/>
          <p:nvPr/>
        </p:nvSpPr>
        <p:spPr>
          <a:xfrm>
            <a:off x="365760" y="2487168"/>
            <a:ext cx="5120640" cy="35661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Best out-of-sample R² among all six models (R² = −0.0041), though improvement is marginal</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Early stopping halted training at iteration 79 of 1,000 — the predictive signal is quickly exhausted</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Only model with a positive (near-zero) Spearman ρ = 0.0014, though not statistically significant (p = 0.605)</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Momentum and book-to-market dominate gain-based feature importance</a:t>
            </a:r>
            <a:endParaRPr lang="en-US" sz="1200" dirty="0"/>
          </a:p>
        </p:txBody>
      </p:sp>
      <p:sp>
        <p:nvSpPr>
          <p:cNvPr id="20" name="Text 18"/>
          <p:cNvSpPr/>
          <p:nvPr/>
        </p:nvSpPr>
        <p:spPr>
          <a:xfrm>
            <a:off x="5715000" y="2057400"/>
            <a:ext cx="612648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Feature importances by gain (total improvement in loss attributed to each feature)</a:t>
            </a:r>
            <a:endParaRPr lang="en-US" sz="1050" dirty="0"/>
          </a:p>
        </p:txBody>
      </p:sp>
      <p:pic>
        <p:nvPicPr>
          <p:cNvPr id="21" name="Image 0" descr="C:/Users/hrwan/fin427/fin427report/report_latex/media/media/fig_xgb_importance.png">    </p:cNvPr>
          <p:cNvPicPr>
            <a:picLocks noChangeAspect="1"/>
          </p:cNvPicPr>
          <p:nvPr/>
        </p:nvPicPr>
        <p:blipFill>
          <a:blip r:embed="rId1"/>
          <a:stretch>
            <a:fillRect/>
          </a:stretch>
        </p:blipFill>
        <p:spPr>
          <a:xfrm>
            <a:off x="5715000" y="2395728"/>
            <a:ext cx="6126480" cy="4160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Neural Network (MLP)</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97280"/>
            <a:ext cx="2743200" cy="777240"/>
          </a:xfrm>
          <a:prstGeom prst="rect">
            <a:avLst/>
          </a:prstGeom>
          <a:solidFill>
            <a:srgbClr val="E8EDF5"/>
          </a:solidFill>
          <a:ln w="12700">
            <a:solidFill>
              <a:srgbClr val="2E6DB4"/>
            </a:solidFill>
            <a:prstDash val="solid"/>
          </a:ln>
        </p:spPr>
      </p:sp>
      <p:sp>
        <p:nvSpPr>
          <p:cNvPr id="7" name="Text 5"/>
          <p:cNvSpPr/>
          <p:nvPr/>
        </p:nvSpPr>
        <p:spPr>
          <a:xfrm>
            <a:off x="45720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R² (Test)</a:t>
            </a:r>
            <a:endParaRPr lang="en-US" sz="950" dirty="0"/>
          </a:p>
        </p:txBody>
      </p:sp>
      <p:sp>
        <p:nvSpPr>
          <p:cNvPr id="8" name="Text 6"/>
          <p:cNvSpPr/>
          <p:nvPr/>
        </p:nvSpPr>
        <p:spPr>
          <a:xfrm>
            <a:off x="45720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−0.0059</a:t>
            </a:r>
            <a:endParaRPr lang="en-US" sz="1800" dirty="0"/>
          </a:p>
        </p:txBody>
      </p:sp>
      <p:sp>
        <p:nvSpPr>
          <p:cNvPr id="9" name="Shape 7"/>
          <p:cNvSpPr/>
          <p:nvPr/>
        </p:nvSpPr>
        <p:spPr>
          <a:xfrm>
            <a:off x="3291840" y="1097280"/>
            <a:ext cx="2743200" cy="777240"/>
          </a:xfrm>
          <a:prstGeom prst="rect">
            <a:avLst/>
          </a:prstGeom>
          <a:solidFill>
            <a:srgbClr val="E8EDF5"/>
          </a:solidFill>
          <a:ln w="12700">
            <a:solidFill>
              <a:srgbClr val="2E6DB4"/>
            </a:solidFill>
            <a:prstDash val="solid"/>
          </a:ln>
        </p:spPr>
      </p:sp>
      <p:sp>
        <p:nvSpPr>
          <p:cNvPr id="10" name="Text 8"/>
          <p:cNvSpPr/>
          <p:nvPr/>
        </p:nvSpPr>
        <p:spPr>
          <a:xfrm>
            <a:off x="338328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Architecture</a:t>
            </a:r>
            <a:endParaRPr lang="en-US" sz="950" dirty="0"/>
          </a:p>
        </p:txBody>
      </p:sp>
      <p:sp>
        <p:nvSpPr>
          <p:cNvPr id="11" name="Text 9"/>
          <p:cNvSpPr/>
          <p:nvPr/>
        </p:nvSpPr>
        <p:spPr>
          <a:xfrm>
            <a:off x="338328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128→64→32</a:t>
            </a:r>
            <a:endParaRPr lang="en-US" sz="1800" dirty="0"/>
          </a:p>
        </p:txBody>
      </p:sp>
      <p:sp>
        <p:nvSpPr>
          <p:cNvPr id="12" name="Shape 10"/>
          <p:cNvSpPr/>
          <p:nvPr/>
        </p:nvSpPr>
        <p:spPr>
          <a:xfrm>
            <a:off x="6217920" y="1097280"/>
            <a:ext cx="2743200" cy="777240"/>
          </a:xfrm>
          <a:prstGeom prst="rect">
            <a:avLst/>
          </a:prstGeom>
          <a:solidFill>
            <a:srgbClr val="E8EDF5"/>
          </a:solidFill>
          <a:ln w="12700">
            <a:solidFill>
              <a:srgbClr val="2E6DB4"/>
            </a:solidFill>
            <a:prstDash val="solid"/>
          </a:ln>
        </p:spPr>
      </p:sp>
      <p:sp>
        <p:nvSpPr>
          <p:cNvPr id="13" name="Text 11"/>
          <p:cNvSpPr/>
          <p:nvPr/>
        </p:nvSpPr>
        <p:spPr>
          <a:xfrm>
            <a:off x="630936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Early Stop</a:t>
            </a:r>
            <a:endParaRPr lang="en-US" sz="950" dirty="0"/>
          </a:p>
        </p:txBody>
      </p:sp>
      <p:sp>
        <p:nvSpPr>
          <p:cNvPr id="14" name="Text 12"/>
          <p:cNvSpPr/>
          <p:nvPr/>
        </p:nvSpPr>
        <p:spPr>
          <a:xfrm>
            <a:off x="630936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Epoch 30</a:t>
            </a:r>
            <a:endParaRPr lang="en-US" sz="1800" dirty="0"/>
          </a:p>
        </p:txBody>
      </p:sp>
      <p:sp>
        <p:nvSpPr>
          <p:cNvPr id="15" name="Shape 13"/>
          <p:cNvSpPr/>
          <p:nvPr/>
        </p:nvSpPr>
        <p:spPr>
          <a:xfrm>
            <a:off x="9144000" y="1097280"/>
            <a:ext cx="2743200" cy="777240"/>
          </a:xfrm>
          <a:prstGeom prst="rect">
            <a:avLst/>
          </a:prstGeom>
          <a:solidFill>
            <a:srgbClr val="E8EDF5"/>
          </a:solidFill>
          <a:ln w="12700">
            <a:solidFill>
              <a:srgbClr val="2E6DB4"/>
            </a:solidFill>
            <a:prstDash val="solid"/>
          </a:ln>
        </p:spPr>
      </p:sp>
      <p:sp>
        <p:nvSpPr>
          <p:cNvPr id="16" name="Text 14"/>
          <p:cNvSpPr/>
          <p:nvPr/>
        </p:nvSpPr>
        <p:spPr>
          <a:xfrm>
            <a:off x="9235440" y="1143000"/>
            <a:ext cx="2560320" cy="256032"/>
          </a:xfrm>
          <a:prstGeom prst="rect">
            <a:avLst/>
          </a:prstGeom>
          <a:noFill/>
          <a:ln/>
        </p:spPr>
        <p:txBody>
          <a:bodyPr wrap="square" rtlCol="0" anchor="ctr"/>
          <a:lstStyle/>
          <a:p>
            <a:pPr indent="0" marL="0">
              <a:buNone/>
            </a:pPr>
            <a:r>
              <a:rPr lang="en-US" sz="950" dirty="0">
                <a:solidFill>
                  <a:srgbClr val="666666"/>
                </a:solidFill>
                <a:latin typeface="Calibri" pitchFamily="34" charset="0"/>
                <a:ea typeface="Calibri" pitchFamily="34" charset="-122"/>
                <a:cs typeface="Calibri" pitchFamily="34" charset="-120"/>
              </a:rPr>
              <a:t>Parameters</a:t>
            </a:r>
            <a:endParaRPr lang="en-US" sz="950" dirty="0"/>
          </a:p>
        </p:txBody>
      </p:sp>
      <p:sp>
        <p:nvSpPr>
          <p:cNvPr id="17" name="Text 15"/>
          <p:cNvSpPr/>
          <p:nvPr/>
        </p:nvSpPr>
        <p:spPr>
          <a:xfrm>
            <a:off x="9235440" y="1371600"/>
            <a:ext cx="2560320" cy="429768"/>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12,417</a:t>
            </a:r>
            <a:endParaRPr lang="en-US" sz="1800" dirty="0"/>
          </a:p>
        </p:txBody>
      </p:sp>
      <p:sp>
        <p:nvSpPr>
          <p:cNvPr id="18" name="Text 16"/>
          <p:cNvSpPr/>
          <p:nvPr/>
        </p:nvSpPr>
        <p:spPr>
          <a:xfrm>
            <a:off x="365760" y="2057400"/>
            <a:ext cx="5120640" cy="347472"/>
          </a:xfrm>
          <a:prstGeom prst="rect">
            <a:avLst/>
          </a:prstGeom>
          <a:noFill/>
          <a:ln/>
        </p:spPr>
        <p:txBody>
          <a:bodyPr wrap="square" rtlCol="0" anchor="ctr"/>
          <a:lstStyle/>
          <a:p>
            <a:pPr indent="0" marL="0">
              <a:buNone/>
            </a:pPr>
            <a:r>
              <a:rPr lang="en-US" sz="1350" b="1" dirty="0">
                <a:solidFill>
                  <a:srgbClr val="2E6DB4"/>
                </a:solidFill>
                <a:latin typeface="Calibri" pitchFamily="34" charset="0"/>
                <a:ea typeface="Calibri" pitchFamily="34" charset="-122"/>
                <a:cs typeface="Calibri" pitchFamily="34" charset="-120"/>
              </a:rPr>
              <a:t>Key Findings</a:t>
            </a:r>
            <a:endParaRPr lang="en-US" sz="1350" dirty="0"/>
          </a:p>
        </p:txBody>
      </p:sp>
      <p:sp>
        <p:nvSpPr>
          <p:cNvPr id="19" name="Text 17"/>
          <p:cNvSpPr/>
          <p:nvPr/>
        </p:nvSpPr>
        <p:spPr>
          <a:xfrm>
            <a:off x="365760" y="2487168"/>
            <a:ext cx="5120640" cy="356616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3-layer MLP: hidden layers (128, 64, 32), ReLU activations, Adam optimizer (η = 0.001), L2 weight decay (α = 0.001)</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Inputs standardized with a StandardScaler fitted on the training set only</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Loss curves show no signs of severe overfitting — regularization and early stopping are working</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Spearman ρ = −0.0027 (p = 0.304, not statistically significant)</a:t>
            </a:r>
            <a:endParaRPr lang="en-US" sz="1200" dirty="0"/>
          </a:p>
        </p:txBody>
      </p:sp>
      <p:sp>
        <p:nvSpPr>
          <p:cNvPr id="20" name="Text 18"/>
          <p:cNvSpPr/>
          <p:nvPr/>
        </p:nvSpPr>
        <p:spPr>
          <a:xfrm>
            <a:off x="5715000" y="2057400"/>
            <a:ext cx="6126480" cy="301752"/>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Training vs. validation loss curves — dashed line marks early-stopping epoch</a:t>
            </a:r>
            <a:endParaRPr lang="en-US" sz="1050" dirty="0"/>
          </a:p>
        </p:txBody>
      </p:sp>
      <p:pic>
        <p:nvPicPr>
          <p:cNvPr id="21" name="Image 0" descr="C:/Users/hrwan/fin427/fin427report/report_latex/media/media/fig_nn_loss.png">    </p:cNvPr>
          <p:cNvPicPr>
            <a:picLocks noChangeAspect="1"/>
          </p:cNvPicPr>
          <p:nvPr/>
        </p:nvPicPr>
        <p:blipFill>
          <a:blip r:embed="rId1"/>
          <a:stretch>
            <a:fillRect/>
          </a:stretch>
        </p:blipFill>
        <p:spPr>
          <a:xfrm>
            <a:off x="5715000" y="2395728"/>
            <a:ext cx="6126480" cy="416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Interesting &amp; Unusual Findings</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Shape 4"/>
          <p:cNvSpPr/>
          <p:nvPr/>
        </p:nvSpPr>
        <p:spPr>
          <a:xfrm>
            <a:off x="365760" y="1078992"/>
            <a:ext cx="5669280" cy="2651760"/>
          </a:xfrm>
          <a:prstGeom prst="rect">
            <a:avLst/>
          </a:prstGeom>
          <a:solidFill>
            <a:srgbClr val="FFFFFF"/>
          </a:solidFill>
          <a:ln w="12700">
            <a:solidFill>
              <a:srgbClr val="1B2A4A"/>
            </a:solidFill>
            <a:prstDash val="solid"/>
          </a:ln>
        </p:spPr>
      </p:sp>
      <p:sp>
        <p:nvSpPr>
          <p:cNvPr id="7" name="Shape 5"/>
          <p:cNvSpPr/>
          <p:nvPr/>
        </p:nvSpPr>
        <p:spPr>
          <a:xfrm>
            <a:off x="365760" y="1078992"/>
            <a:ext cx="91440" cy="2651760"/>
          </a:xfrm>
          <a:prstGeom prst="rect">
            <a:avLst/>
          </a:prstGeom>
          <a:solidFill>
            <a:srgbClr val="1B2A4A"/>
          </a:solidFill>
          <a:ln w="12700">
            <a:solidFill>
              <a:srgbClr val="1B2A4A"/>
            </a:solidFill>
            <a:prstDash val="solid"/>
          </a:ln>
        </p:spPr>
      </p:sp>
      <p:sp>
        <p:nvSpPr>
          <p:cNvPr id="8" name="Text 6"/>
          <p:cNvSpPr/>
          <p:nvPr/>
        </p:nvSpPr>
        <p:spPr>
          <a:xfrm>
            <a:off x="594360" y="1170432"/>
            <a:ext cx="5303520" cy="438912"/>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All Six Models Produce Near-Zero or Negative R²</a:t>
            </a:r>
            <a:endParaRPr lang="en-US" sz="1300" dirty="0"/>
          </a:p>
        </p:txBody>
      </p:sp>
      <p:sp>
        <p:nvSpPr>
          <p:cNvPr id="9" name="Text 7"/>
          <p:cNvSpPr/>
          <p:nvPr/>
        </p:nvSpPr>
        <p:spPr>
          <a:xfrm>
            <a:off x="594360" y="1655064"/>
            <a:ext cx="5303520" cy="196596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Every model fails to beat a naive mean predictor on the 2022–2024 test set. Even the best model (XGBoost) achieves only R² = −0.0041. This confirms the well-established empirical result that cross-sectional stock returns are extremely difficult to predict.</a:t>
            </a:r>
            <a:endParaRPr lang="en-US" sz="1150" dirty="0"/>
          </a:p>
        </p:txBody>
      </p:sp>
      <p:sp>
        <p:nvSpPr>
          <p:cNvPr id="10" name="Shape 8"/>
          <p:cNvSpPr/>
          <p:nvPr/>
        </p:nvSpPr>
        <p:spPr>
          <a:xfrm>
            <a:off x="6309360" y="1078992"/>
            <a:ext cx="5669280" cy="2651760"/>
          </a:xfrm>
          <a:prstGeom prst="rect">
            <a:avLst/>
          </a:prstGeom>
          <a:solidFill>
            <a:srgbClr val="FFFFFF"/>
          </a:solidFill>
          <a:ln w="12700">
            <a:solidFill>
              <a:srgbClr val="2E6DB4"/>
            </a:solidFill>
            <a:prstDash val="solid"/>
          </a:ln>
        </p:spPr>
      </p:sp>
      <p:sp>
        <p:nvSpPr>
          <p:cNvPr id="11" name="Shape 9"/>
          <p:cNvSpPr/>
          <p:nvPr/>
        </p:nvSpPr>
        <p:spPr>
          <a:xfrm>
            <a:off x="6309360" y="1078992"/>
            <a:ext cx="91440" cy="2651760"/>
          </a:xfrm>
          <a:prstGeom prst="rect">
            <a:avLst/>
          </a:prstGeom>
          <a:solidFill>
            <a:srgbClr val="2E6DB4"/>
          </a:solidFill>
          <a:ln w="12700">
            <a:solidFill>
              <a:srgbClr val="2E6DB4"/>
            </a:solidFill>
            <a:prstDash val="solid"/>
          </a:ln>
        </p:spPr>
      </p:sp>
      <p:sp>
        <p:nvSpPr>
          <p:cNvPr id="12" name="Text 10"/>
          <p:cNvSpPr/>
          <p:nvPr/>
        </p:nvSpPr>
        <p:spPr>
          <a:xfrm>
            <a:off x="6537960" y="1170432"/>
            <a:ext cx="5303520" cy="438912"/>
          </a:xfrm>
          <a:prstGeom prst="rect">
            <a:avLst/>
          </a:prstGeom>
          <a:noFill/>
          <a:ln/>
        </p:spPr>
        <p:txBody>
          <a:bodyPr wrap="square" rtlCol="0" anchor="ctr"/>
          <a:lstStyle/>
          <a:p>
            <a:pPr indent="0" marL="0">
              <a:buNone/>
            </a:pPr>
            <a:r>
              <a:rPr lang="en-US" sz="1300" b="1" dirty="0">
                <a:solidFill>
                  <a:srgbClr val="2E6DB4"/>
                </a:solidFill>
                <a:latin typeface="Calibri" pitchFamily="34" charset="0"/>
                <a:ea typeface="Calibri" pitchFamily="34" charset="-122"/>
                <a:cs typeface="Calibri" pitchFamily="34" charset="-120"/>
              </a:rPr>
              <a:t>LASSO Eliminates 87% of Predictors</a:t>
            </a:r>
            <a:endParaRPr lang="en-US" sz="1300" dirty="0"/>
          </a:p>
        </p:txBody>
      </p:sp>
      <p:sp>
        <p:nvSpPr>
          <p:cNvPr id="13" name="Text 11"/>
          <p:cNvSpPr/>
          <p:nvPr/>
        </p:nvSpPr>
        <p:spPr>
          <a:xfrm>
            <a:off x="6537960" y="1655064"/>
            <a:ext cx="5303520" cy="196596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At the optimal penalty α = 0.00450, only Log Market Cap and Book-to-Market survive. 13 of 15 carefully constructed predictors — including governance, profitability, and liquidity variables — are shrunk exactly to zero. The signal is concentrated in just two classic factors.</a:t>
            </a:r>
            <a:endParaRPr lang="en-US" sz="1150" dirty="0"/>
          </a:p>
        </p:txBody>
      </p:sp>
      <p:sp>
        <p:nvSpPr>
          <p:cNvPr id="14" name="Shape 12"/>
          <p:cNvSpPr/>
          <p:nvPr/>
        </p:nvSpPr>
        <p:spPr>
          <a:xfrm>
            <a:off x="365760" y="3913632"/>
            <a:ext cx="5669280" cy="2651760"/>
          </a:xfrm>
          <a:prstGeom prst="rect">
            <a:avLst/>
          </a:prstGeom>
          <a:solidFill>
            <a:srgbClr val="FFFFFF"/>
          </a:solidFill>
          <a:ln w="12700">
            <a:solidFill>
              <a:srgbClr val="1A6B3C"/>
            </a:solidFill>
            <a:prstDash val="solid"/>
          </a:ln>
        </p:spPr>
      </p:sp>
      <p:sp>
        <p:nvSpPr>
          <p:cNvPr id="15" name="Shape 13"/>
          <p:cNvSpPr/>
          <p:nvPr/>
        </p:nvSpPr>
        <p:spPr>
          <a:xfrm>
            <a:off x="365760" y="3913632"/>
            <a:ext cx="91440" cy="2651760"/>
          </a:xfrm>
          <a:prstGeom prst="rect">
            <a:avLst/>
          </a:prstGeom>
          <a:solidFill>
            <a:srgbClr val="1A6B3C"/>
          </a:solidFill>
          <a:ln w="12700">
            <a:solidFill>
              <a:srgbClr val="1A6B3C"/>
            </a:solidFill>
            <a:prstDash val="solid"/>
          </a:ln>
        </p:spPr>
      </p:sp>
      <p:sp>
        <p:nvSpPr>
          <p:cNvPr id="16" name="Text 14"/>
          <p:cNvSpPr/>
          <p:nvPr/>
        </p:nvSpPr>
        <p:spPr>
          <a:xfrm>
            <a:off x="594360" y="4005072"/>
            <a:ext cx="5303520" cy="43891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Cross-Model Consensus Despite Poor Individual Fit</a:t>
            </a:r>
            <a:endParaRPr lang="en-US" sz="1300" dirty="0"/>
          </a:p>
        </p:txBody>
      </p:sp>
      <p:sp>
        <p:nvSpPr>
          <p:cNvPr id="17" name="Text 15"/>
          <p:cNvSpPr/>
          <p:nvPr/>
        </p:nvSpPr>
        <p:spPr>
          <a:xfrm>
            <a:off x="594360" y="4489704"/>
            <a:ext cx="5303520" cy="196596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Despite near-zero R² across all models, NAII ranks in the top tier consistently. Models with essentially no predictive power still agree on relative ordering — suggesting the top picks are driven by strong factor signals (particularly momentum) rather than noise.</a:t>
            </a:r>
            <a:endParaRPr lang="en-US" sz="1150" dirty="0"/>
          </a:p>
        </p:txBody>
      </p:sp>
      <p:sp>
        <p:nvSpPr>
          <p:cNvPr id="18" name="Shape 16"/>
          <p:cNvSpPr/>
          <p:nvPr/>
        </p:nvSpPr>
        <p:spPr>
          <a:xfrm>
            <a:off x="6309360" y="3913632"/>
            <a:ext cx="5669280" cy="2651760"/>
          </a:xfrm>
          <a:prstGeom prst="rect">
            <a:avLst/>
          </a:prstGeom>
          <a:solidFill>
            <a:srgbClr val="FFFFFF"/>
          </a:solidFill>
          <a:ln w="12700">
            <a:solidFill>
              <a:srgbClr val="7B4000"/>
            </a:solidFill>
            <a:prstDash val="solid"/>
          </a:ln>
        </p:spPr>
      </p:sp>
      <p:sp>
        <p:nvSpPr>
          <p:cNvPr id="19" name="Shape 17"/>
          <p:cNvSpPr/>
          <p:nvPr/>
        </p:nvSpPr>
        <p:spPr>
          <a:xfrm>
            <a:off x="6309360" y="3913632"/>
            <a:ext cx="91440" cy="2651760"/>
          </a:xfrm>
          <a:prstGeom prst="rect">
            <a:avLst/>
          </a:prstGeom>
          <a:solidFill>
            <a:srgbClr val="7B4000"/>
          </a:solidFill>
          <a:ln w="12700">
            <a:solidFill>
              <a:srgbClr val="7B4000"/>
            </a:solidFill>
            <a:prstDash val="solid"/>
          </a:ln>
        </p:spPr>
      </p:sp>
      <p:sp>
        <p:nvSpPr>
          <p:cNvPr id="20" name="Text 18"/>
          <p:cNvSpPr/>
          <p:nvPr/>
        </p:nvSpPr>
        <p:spPr>
          <a:xfrm>
            <a:off x="6537960" y="4005072"/>
            <a:ext cx="5303520" cy="438912"/>
          </a:xfrm>
          <a:prstGeom prst="rect">
            <a:avLst/>
          </a:prstGeom>
          <a:noFill/>
          <a:ln/>
        </p:spPr>
        <p:txBody>
          <a:bodyPr wrap="square" rtlCol="0" anchor="ctr"/>
          <a:lstStyle/>
          <a:p>
            <a:pPr indent="0" marL="0">
              <a:buNone/>
            </a:pPr>
            <a:r>
              <a:rPr lang="en-US" sz="1300" b="1" dirty="0">
                <a:solidFill>
                  <a:srgbClr val="7B4000"/>
                </a:solidFill>
                <a:latin typeface="Calibri" pitchFamily="34" charset="0"/>
                <a:ea typeface="Calibri" pitchFamily="34" charset="-122"/>
                <a:cs typeface="Calibri" pitchFamily="34" charset="-120"/>
              </a:rPr>
              <a:t>XGBoost Exhausts Signal at Iteration 79 of 1,000</a:t>
            </a:r>
            <a:endParaRPr lang="en-US" sz="1300" dirty="0"/>
          </a:p>
        </p:txBody>
      </p:sp>
      <p:sp>
        <p:nvSpPr>
          <p:cNvPr id="21" name="Text 19"/>
          <p:cNvSpPr/>
          <p:nvPr/>
        </p:nvSpPr>
        <p:spPr>
          <a:xfrm>
            <a:off x="6537960" y="4489704"/>
            <a:ext cx="5303520" cy="196596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With a patience of 50 and up to 1,000 boosting rounds, XGBoost stopped at just iteration 79. The predictable content of 15 firm characteristics for monthly return prediction is exhausted almost immediately, consistent with near-random cross-sectional returns in this sector.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B2A4A"/>
          </a:solidFill>
          <a:ln w="12700">
            <a:solidFill>
              <a:srgbClr val="1B2A4A"/>
            </a:solidFill>
            <a:prstDash val="solid"/>
          </a:ln>
        </p:spPr>
      </p:sp>
      <p:sp>
        <p:nvSpPr>
          <p:cNvPr id="3" name="Shape 1"/>
          <p:cNvSpPr/>
          <p:nvPr/>
        </p:nvSpPr>
        <p:spPr>
          <a:xfrm>
            <a:off x="0" y="960120"/>
            <a:ext cx="12188952" cy="36576"/>
          </a:xfrm>
          <a:prstGeom prst="rect">
            <a:avLst/>
          </a:prstGeom>
          <a:solidFill>
            <a:srgbClr val="C9A84C"/>
          </a:solidFill>
          <a:ln w="12700">
            <a:solidFill>
              <a:srgbClr val="C9A84C"/>
            </a:solidFill>
            <a:prstDash val="solid"/>
          </a:ln>
        </p:spPr>
      </p:sp>
      <p:sp>
        <p:nvSpPr>
          <p:cNvPr id="4" name="Text 2"/>
          <p:cNvSpPr/>
          <p:nvPr/>
        </p:nvSpPr>
        <p:spPr>
          <a:xfrm>
            <a:off x="365760" y="0"/>
            <a:ext cx="11457432" cy="96012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Model Comparison &amp; Stock Rankings</a:t>
            </a:r>
            <a:endParaRPr lang="en-US" sz="2600" dirty="0"/>
          </a:p>
        </p:txBody>
      </p:sp>
      <p:sp>
        <p:nvSpPr>
          <p:cNvPr id="5" name="Text 3"/>
          <p:cNvSpPr/>
          <p:nvPr/>
        </p:nvSpPr>
        <p:spPr>
          <a:xfrm>
            <a:off x="365760" y="6565392"/>
            <a:ext cx="11457432" cy="256032"/>
          </a:xfrm>
          <a:prstGeom prst="rect">
            <a:avLst/>
          </a:prstGeom>
          <a:noFill/>
          <a:ln/>
        </p:spPr>
        <p:txBody>
          <a:bodyPr wrap="square" rtlCol="0" anchor="ctr"/>
          <a:lstStyle/>
          <a:p>
            <a:pPr algn="r" indent="0" marL="0">
              <a:buNone/>
            </a:pPr>
            <a:r>
              <a:rPr lang="en-US" sz="900" dirty="0">
                <a:solidFill>
                  <a:srgbClr val="666666"/>
                </a:solidFill>
                <a:latin typeface="Calibri" pitchFamily="34" charset="0"/>
                <a:ea typeface="Calibri" pitchFamily="34" charset="-122"/>
                <a:cs typeface="Calibri" pitchFamily="34" charset="-120"/>
              </a:rPr>
              <a:t>FIN 427  |  Machine Learning Stock Selection  |  April 2026</a:t>
            </a:r>
            <a:endParaRPr lang="en-US" sz="900" dirty="0"/>
          </a:p>
        </p:txBody>
      </p:sp>
      <p:sp>
        <p:nvSpPr>
          <p:cNvPr id="6" name="Text 4"/>
          <p:cNvSpPr/>
          <p:nvPr/>
        </p:nvSpPr>
        <p:spPr>
          <a:xfrm>
            <a:off x="365760" y="1078992"/>
            <a:ext cx="5577840" cy="292608"/>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Out-of-Sample R² &amp; RMSE by Model</a:t>
            </a:r>
            <a:endParaRPr lang="en-US" sz="1050" dirty="0"/>
          </a:p>
        </p:txBody>
      </p:sp>
      <p:pic>
        <p:nvPicPr>
          <p:cNvPr id="7" name="Image 0" descr="C:/Users/hrwan/fin427/fin427report/report_latex/media/media/fig_metrics_comparison.png">    </p:cNvPr>
          <p:cNvPicPr>
            <a:picLocks noChangeAspect="1"/>
          </p:cNvPicPr>
          <p:nvPr/>
        </p:nvPicPr>
        <p:blipFill>
          <a:blip r:embed="rId1"/>
          <a:stretch>
            <a:fillRect/>
          </a:stretch>
        </p:blipFill>
        <p:spPr>
          <a:xfrm>
            <a:off x="365760" y="1417320"/>
            <a:ext cx="5577840" cy="2834640"/>
          </a:xfrm>
          <a:prstGeom prst="rect">
            <a:avLst/>
          </a:prstGeom>
        </p:spPr>
      </p:pic>
      <p:sp>
        <p:nvSpPr>
          <p:cNvPr id="8" name="Text 5"/>
          <p:cNvSpPr/>
          <p:nvPr/>
        </p:nvSpPr>
        <p:spPr>
          <a:xfrm>
            <a:off x="6217920" y="1078992"/>
            <a:ext cx="5669280" cy="292608"/>
          </a:xfrm>
          <a:prstGeom prst="rect">
            <a:avLst/>
          </a:prstGeom>
          <a:noFill/>
          <a:ln/>
        </p:spPr>
        <p:txBody>
          <a:bodyPr wrap="square" rtlCol="0" anchor="ctr"/>
          <a:lstStyle/>
          <a:p>
            <a:pPr indent="0" marL="0">
              <a:buNone/>
            </a:pPr>
            <a:r>
              <a:rPr lang="en-US" sz="1050" i="1" dirty="0">
                <a:solidFill>
                  <a:srgbClr val="666666"/>
                </a:solidFill>
                <a:latin typeface="Calibri" pitchFamily="34" charset="0"/>
                <a:ea typeface="Calibri" pitchFamily="34" charset="-122"/>
                <a:cs typeface="Calibri" pitchFamily="34" charset="-120"/>
              </a:rPr>
              <a:t>Average Rank Across 6 Models — All 38 Sector Stocks (Nov 2024)</a:t>
            </a:r>
            <a:endParaRPr lang="en-US" sz="1050" dirty="0"/>
          </a:p>
        </p:txBody>
      </p:sp>
      <p:pic>
        <p:nvPicPr>
          <p:cNvPr id="9" name="Image 1" descr="C:/Users/hrwan/fin427/fin427report/report_latex/media/media/fig_sector_predictions.png">    </p:cNvPr>
          <p:cNvPicPr>
            <a:picLocks noChangeAspect="1"/>
          </p:cNvPicPr>
          <p:nvPr/>
        </p:nvPicPr>
        <p:blipFill>
          <a:blip r:embed="rId2"/>
          <a:stretch>
            <a:fillRect/>
          </a:stretch>
        </p:blipFill>
        <p:spPr>
          <a:xfrm>
            <a:off x="6217920" y="1417320"/>
            <a:ext cx="5669280" cy="2834640"/>
          </a:xfrm>
          <a:prstGeom prst="rect">
            <a:avLst/>
          </a:prstGeom>
        </p:spPr>
      </p:pic>
      <p:sp>
        <p:nvSpPr>
          <p:cNvPr id="10" name="Text 6"/>
          <p:cNvSpPr/>
          <p:nvPr/>
        </p:nvSpPr>
        <p:spPr>
          <a:xfrm>
            <a:off x="365760" y="4407408"/>
            <a:ext cx="11430000" cy="320040"/>
          </a:xfrm>
          <a:prstGeom prst="rect">
            <a:avLst/>
          </a:prstGeom>
          <a:noFill/>
          <a:ln/>
        </p:spPr>
        <p:txBody>
          <a:bodyPr wrap="square" rtlCol="0" anchor="ctr"/>
          <a:lstStyle/>
          <a:p>
            <a:pPr indent="0" marL="0">
              <a:buNone/>
            </a:pPr>
            <a:r>
              <a:rPr lang="en-US" sz="1250" b="1" dirty="0">
                <a:solidFill>
                  <a:srgbClr val="2E6DB4"/>
                </a:solidFill>
                <a:latin typeface="Calibri" pitchFamily="34" charset="0"/>
                <a:ea typeface="Calibri" pitchFamily="34" charset="-122"/>
                <a:cs typeface="Calibri" pitchFamily="34" charset="-120"/>
              </a:rPr>
              <a:t>Out-of-Sample Performance Summary</a:t>
            </a:r>
            <a:endParaRPr lang="en-US" sz="1250" dirty="0"/>
          </a:p>
        </p:txBody>
      </p:sp>
      <p:sp>
        <p:nvSpPr>
          <p:cNvPr id="11" name="Shape 7"/>
          <p:cNvSpPr/>
          <p:nvPr/>
        </p:nvSpPr>
        <p:spPr>
          <a:xfrm>
            <a:off x="365760" y="4773168"/>
            <a:ext cx="2103120" cy="269748"/>
          </a:xfrm>
          <a:prstGeom prst="rect">
            <a:avLst/>
          </a:prstGeom>
          <a:solidFill>
            <a:srgbClr val="1B2A4A"/>
          </a:solidFill>
          <a:ln w="12700">
            <a:solidFill>
              <a:srgbClr val="1B2A4A"/>
            </a:solidFill>
            <a:prstDash val="solid"/>
          </a:ln>
        </p:spPr>
      </p:sp>
      <p:sp>
        <p:nvSpPr>
          <p:cNvPr id="12" name="Text 8"/>
          <p:cNvSpPr/>
          <p:nvPr/>
        </p:nvSpPr>
        <p:spPr>
          <a:xfrm>
            <a:off x="411480" y="4773168"/>
            <a:ext cx="2011680" cy="26974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p>
        </p:txBody>
      </p:sp>
      <p:sp>
        <p:nvSpPr>
          <p:cNvPr id="13" name="Shape 9"/>
          <p:cNvSpPr/>
          <p:nvPr/>
        </p:nvSpPr>
        <p:spPr>
          <a:xfrm>
            <a:off x="2468880" y="4773168"/>
            <a:ext cx="1554480" cy="269748"/>
          </a:xfrm>
          <a:prstGeom prst="rect">
            <a:avLst/>
          </a:prstGeom>
          <a:solidFill>
            <a:srgbClr val="1B2A4A"/>
          </a:solidFill>
          <a:ln w="12700">
            <a:solidFill>
              <a:srgbClr val="1B2A4A"/>
            </a:solidFill>
            <a:prstDash val="solid"/>
          </a:ln>
        </p:spPr>
      </p:sp>
      <p:sp>
        <p:nvSpPr>
          <p:cNvPr id="14" name="Text 10"/>
          <p:cNvSpPr/>
          <p:nvPr/>
        </p:nvSpPr>
        <p:spPr>
          <a:xfrm>
            <a:off x="2514600" y="4773168"/>
            <a:ext cx="1463040" cy="26974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R² (Test)</a:t>
            </a:r>
            <a:endParaRPr lang="en-US" sz="950" dirty="0"/>
          </a:p>
        </p:txBody>
      </p:sp>
      <p:sp>
        <p:nvSpPr>
          <p:cNvPr id="15" name="Shape 11"/>
          <p:cNvSpPr/>
          <p:nvPr/>
        </p:nvSpPr>
        <p:spPr>
          <a:xfrm>
            <a:off x="4023360" y="4773168"/>
            <a:ext cx="1417320" cy="269748"/>
          </a:xfrm>
          <a:prstGeom prst="rect">
            <a:avLst/>
          </a:prstGeom>
          <a:solidFill>
            <a:srgbClr val="1B2A4A"/>
          </a:solidFill>
          <a:ln w="12700">
            <a:solidFill>
              <a:srgbClr val="1B2A4A"/>
            </a:solidFill>
            <a:prstDash val="solid"/>
          </a:ln>
        </p:spPr>
      </p:sp>
      <p:sp>
        <p:nvSpPr>
          <p:cNvPr id="16" name="Text 12"/>
          <p:cNvSpPr/>
          <p:nvPr/>
        </p:nvSpPr>
        <p:spPr>
          <a:xfrm>
            <a:off x="4069080" y="4773168"/>
            <a:ext cx="1325880" cy="26974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RMSE</a:t>
            </a:r>
            <a:endParaRPr lang="en-US" sz="950" dirty="0"/>
          </a:p>
        </p:txBody>
      </p:sp>
      <p:sp>
        <p:nvSpPr>
          <p:cNvPr id="17" name="Shape 13"/>
          <p:cNvSpPr/>
          <p:nvPr/>
        </p:nvSpPr>
        <p:spPr>
          <a:xfrm>
            <a:off x="5440680" y="4773168"/>
            <a:ext cx="1645920" cy="269748"/>
          </a:xfrm>
          <a:prstGeom prst="rect">
            <a:avLst/>
          </a:prstGeom>
          <a:solidFill>
            <a:srgbClr val="1B2A4A"/>
          </a:solidFill>
          <a:ln w="12700">
            <a:solidFill>
              <a:srgbClr val="1B2A4A"/>
            </a:solidFill>
            <a:prstDash val="solid"/>
          </a:ln>
        </p:spPr>
      </p:sp>
      <p:sp>
        <p:nvSpPr>
          <p:cNvPr id="18" name="Text 14"/>
          <p:cNvSpPr/>
          <p:nvPr/>
        </p:nvSpPr>
        <p:spPr>
          <a:xfrm>
            <a:off x="5486400" y="4773168"/>
            <a:ext cx="1554480" cy="26974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Spearman ρ</a:t>
            </a:r>
            <a:endParaRPr lang="en-US" sz="950" dirty="0"/>
          </a:p>
        </p:txBody>
      </p:sp>
      <p:sp>
        <p:nvSpPr>
          <p:cNvPr id="19" name="Shape 15"/>
          <p:cNvSpPr/>
          <p:nvPr/>
        </p:nvSpPr>
        <p:spPr>
          <a:xfrm>
            <a:off x="7086600" y="4773168"/>
            <a:ext cx="1417320" cy="269748"/>
          </a:xfrm>
          <a:prstGeom prst="rect">
            <a:avLst/>
          </a:prstGeom>
          <a:solidFill>
            <a:srgbClr val="1B2A4A"/>
          </a:solidFill>
          <a:ln w="12700">
            <a:solidFill>
              <a:srgbClr val="1B2A4A"/>
            </a:solidFill>
            <a:prstDash val="solid"/>
          </a:ln>
        </p:spPr>
      </p:sp>
      <p:sp>
        <p:nvSpPr>
          <p:cNvPr id="20" name="Text 16"/>
          <p:cNvSpPr/>
          <p:nvPr/>
        </p:nvSpPr>
        <p:spPr>
          <a:xfrm>
            <a:off x="7132320" y="4773168"/>
            <a:ext cx="1325880" cy="26974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p-value</a:t>
            </a:r>
            <a:endParaRPr lang="en-US" sz="950" dirty="0"/>
          </a:p>
        </p:txBody>
      </p:sp>
      <p:sp>
        <p:nvSpPr>
          <p:cNvPr id="21" name="Shape 17"/>
          <p:cNvSpPr/>
          <p:nvPr/>
        </p:nvSpPr>
        <p:spPr>
          <a:xfrm>
            <a:off x="8503920" y="4773168"/>
            <a:ext cx="2468880" cy="269748"/>
          </a:xfrm>
          <a:prstGeom prst="rect">
            <a:avLst/>
          </a:prstGeom>
          <a:solidFill>
            <a:srgbClr val="1B2A4A"/>
          </a:solidFill>
          <a:ln w="12700">
            <a:solidFill>
              <a:srgbClr val="1B2A4A"/>
            </a:solidFill>
            <a:prstDash val="solid"/>
          </a:ln>
        </p:spPr>
      </p:sp>
      <p:sp>
        <p:nvSpPr>
          <p:cNvPr id="22" name="Text 18"/>
          <p:cNvSpPr/>
          <p:nvPr/>
        </p:nvSpPr>
        <p:spPr>
          <a:xfrm>
            <a:off x="8549640" y="4773168"/>
            <a:ext cx="2377440" cy="26974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Nov 2024 Top Pick</a:t>
            </a:r>
            <a:endParaRPr lang="en-US" sz="950" dirty="0"/>
          </a:p>
        </p:txBody>
      </p:sp>
      <p:sp>
        <p:nvSpPr>
          <p:cNvPr id="23" name="Shape 19"/>
          <p:cNvSpPr/>
          <p:nvPr/>
        </p:nvSpPr>
        <p:spPr>
          <a:xfrm>
            <a:off x="365760" y="5042916"/>
            <a:ext cx="2103120" cy="269748"/>
          </a:xfrm>
          <a:prstGeom prst="rect">
            <a:avLst/>
          </a:prstGeom>
          <a:solidFill>
            <a:srgbClr val="FFFFFF"/>
          </a:solidFill>
          <a:ln w="12700">
            <a:solidFill>
              <a:srgbClr val="CCCCCC"/>
            </a:solidFill>
            <a:prstDash val="solid"/>
          </a:ln>
        </p:spPr>
      </p:sp>
      <p:sp>
        <p:nvSpPr>
          <p:cNvPr id="24" name="Text 20"/>
          <p:cNvSpPr/>
          <p:nvPr/>
        </p:nvSpPr>
        <p:spPr>
          <a:xfrm>
            <a:off x="411480" y="5042916"/>
            <a:ext cx="20116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OLS</a:t>
            </a:r>
            <a:endParaRPr lang="en-US" sz="950" dirty="0"/>
          </a:p>
        </p:txBody>
      </p:sp>
      <p:sp>
        <p:nvSpPr>
          <p:cNvPr id="25" name="Shape 21"/>
          <p:cNvSpPr/>
          <p:nvPr/>
        </p:nvSpPr>
        <p:spPr>
          <a:xfrm>
            <a:off x="2468880" y="5042916"/>
            <a:ext cx="1554480" cy="269748"/>
          </a:xfrm>
          <a:prstGeom prst="rect">
            <a:avLst/>
          </a:prstGeom>
          <a:solidFill>
            <a:srgbClr val="FFFFFF"/>
          </a:solidFill>
          <a:ln w="12700">
            <a:solidFill>
              <a:srgbClr val="CCCCCC"/>
            </a:solidFill>
            <a:prstDash val="solid"/>
          </a:ln>
        </p:spPr>
      </p:sp>
      <p:sp>
        <p:nvSpPr>
          <p:cNvPr id="26" name="Text 22"/>
          <p:cNvSpPr/>
          <p:nvPr/>
        </p:nvSpPr>
        <p:spPr>
          <a:xfrm>
            <a:off x="2514600" y="5042916"/>
            <a:ext cx="14630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−0.0012</a:t>
            </a:r>
            <a:endParaRPr lang="en-US" sz="950" dirty="0"/>
          </a:p>
        </p:txBody>
      </p:sp>
      <p:sp>
        <p:nvSpPr>
          <p:cNvPr id="27" name="Shape 23"/>
          <p:cNvSpPr/>
          <p:nvPr/>
        </p:nvSpPr>
        <p:spPr>
          <a:xfrm>
            <a:off x="4023360" y="5042916"/>
            <a:ext cx="1417320" cy="269748"/>
          </a:xfrm>
          <a:prstGeom prst="rect">
            <a:avLst/>
          </a:prstGeom>
          <a:solidFill>
            <a:srgbClr val="FFFFFF"/>
          </a:solidFill>
          <a:ln w="12700">
            <a:solidFill>
              <a:srgbClr val="CCCCCC"/>
            </a:solidFill>
            <a:prstDash val="solid"/>
          </a:ln>
        </p:spPr>
      </p:sp>
      <p:sp>
        <p:nvSpPr>
          <p:cNvPr id="28" name="Text 24"/>
          <p:cNvSpPr/>
          <p:nvPr/>
        </p:nvSpPr>
        <p:spPr>
          <a:xfrm>
            <a:off x="4069080" y="5042916"/>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0.1852</a:t>
            </a:r>
            <a:endParaRPr lang="en-US" sz="950" dirty="0"/>
          </a:p>
        </p:txBody>
      </p:sp>
      <p:sp>
        <p:nvSpPr>
          <p:cNvPr id="29" name="Shape 25"/>
          <p:cNvSpPr/>
          <p:nvPr/>
        </p:nvSpPr>
        <p:spPr>
          <a:xfrm>
            <a:off x="5440680" y="5042916"/>
            <a:ext cx="1645920" cy="269748"/>
          </a:xfrm>
          <a:prstGeom prst="rect">
            <a:avLst/>
          </a:prstGeom>
          <a:solidFill>
            <a:srgbClr val="FFFFFF"/>
          </a:solidFill>
          <a:ln w="12700">
            <a:solidFill>
              <a:srgbClr val="CCCCCC"/>
            </a:solidFill>
            <a:prstDash val="solid"/>
          </a:ln>
        </p:spPr>
      </p:sp>
      <p:sp>
        <p:nvSpPr>
          <p:cNvPr id="30" name="Text 26"/>
          <p:cNvSpPr/>
          <p:nvPr/>
        </p:nvSpPr>
        <p:spPr>
          <a:xfrm>
            <a:off x="5486400" y="5042916"/>
            <a:ext cx="15544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−0.0441</a:t>
            </a:r>
            <a:endParaRPr lang="en-US" sz="950" dirty="0"/>
          </a:p>
        </p:txBody>
      </p:sp>
      <p:sp>
        <p:nvSpPr>
          <p:cNvPr id="31" name="Shape 27"/>
          <p:cNvSpPr/>
          <p:nvPr/>
        </p:nvSpPr>
        <p:spPr>
          <a:xfrm>
            <a:off x="7086600" y="5042916"/>
            <a:ext cx="1417320" cy="269748"/>
          </a:xfrm>
          <a:prstGeom prst="rect">
            <a:avLst/>
          </a:prstGeom>
          <a:solidFill>
            <a:srgbClr val="FFFFFF"/>
          </a:solidFill>
          <a:ln w="12700">
            <a:solidFill>
              <a:srgbClr val="CCCCCC"/>
            </a:solidFill>
            <a:prstDash val="solid"/>
          </a:ln>
        </p:spPr>
      </p:sp>
      <p:sp>
        <p:nvSpPr>
          <p:cNvPr id="32" name="Text 28"/>
          <p:cNvSpPr/>
          <p:nvPr/>
        </p:nvSpPr>
        <p:spPr>
          <a:xfrm>
            <a:off x="7132320" y="5042916"/>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0.0000</a:t>
            </a:r>
            <a:endParaRPr lang="en-US" sz="950" dirty="0"/>
          </a:p>
        </p:txBody>
      </p:sp>
      <p:sp>
        <p:nvSpPr>
          <p:cNvPr id="33" name="Shape 29"/>
          <p:cNvSpPr/>
          <p:nvPr/>
        </p:nvSpPr>
        <p:spPr>
          <a:xfrm>
            <a:off x="8503920" y="5042916"/>
            <a:ext cx="2468880" cy="269748"/>
          </a:xfrm>
          <a:prstGeom prst="rect">
            <a:avLst/>
          </a:prstGeom>
          <a:solidFill>
            <a:srgbClr val="FFFFFF"/>
          </a:solidFill>
          <a:ln w="12700">
            <a:solidFill>
              <a:srgbClr val="CCCCCC"/>
            </a:solidFill>
            <a:prstDash val="solid"/>
          </a:ln>
        </p:spPr>
      </p:sp>
      <p:sp>
        <p:nvSpPr>
          <p:cNvPr id="34" name="Text 30"/>
          <p:cNvSpPr/>
          <p:nvPr/>
        </p:nvSpPr>
        <p:spPr>
          <a:xfrm>
            <a:off x="8549640" y="5042916"/>
            <a:ext cx="23774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a:t>
            </a:r>
            <a:endParaRPr lang="en-US" sz="950" dirty="0"/>
          </a:p>
        </p:txBody>
      </p:sp>
      <p:sp>
        <p:nvSpPr>
          <p:cNvPr id="35" name="Shape 31"/>
          <p:cNvSpPr/>
          <p:nvPr/>
        </p:nvSpPr>
        <p:spPr>
          <a:xfrm>
            <a:off x="365760" y="5312664"/>
            <a:ext cx="2103120" cy="269748"/>
          </a:xfrm>
          <a:prstGeom prst="rect">
            <a:avLst/>
          </a:prstGeom>
          <a:solidFill>
            <a:srgbClr val="F5F6F8"/>
          </a:solidFill>
          <a:ln w="12700">
            <a:solidFill>
              <a:srgbClr val="CCCCCC"/>
            </a:solidFill>
            <a:prstDash val="solid"/>
          </a:ln>
        </p:spPr>
      </p:sp>
      <p:sp>
        <p:nvSpPr>
          <p:cNvPr id="36" name="Text 32"/>
          <p:cNvSpPr/>
          <p:nvPr/>
        </p:nvSpPr>
        <p:spPr>
          <a:xfrm>
            <a:off x="411480" y="5312664"/>
            <a:ext cx="20116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LASSO</a:t>
            </a:r>
            <a:endParaRPr lang="en-US" sz="950" dirty="0"/>
          </a:p>
        </p:txBody>
      </p:sp>
      <p:sp>
        <p:nvSpPr>
          <p:cNvPr id="37" name="Shape 33"/>
          <p:cNvSpPr/>
          <p:nvPr/>
        </p:nvSpPr>
        <p:spPr>
          <a:xfrm>
            <a:off x="2468880" y="5312664"/>
            <a:ext cx="1554480" cy="269748"/>
          </a:xfrm>
          <a:prstGeom prst="rect">
            <a:avLst/>
          </a:prstGeom>
          <a:solidFill>
            <a:srgbClr val="F5F6F8"/>
          </a:solidFill>
          <a:ln w="12700">
            <a:solidFill>
              <a:srgbClr val="CCCCCC"/>
            </a:solidFill>
            <a:prstDash val="solid"/>
          </a:ln>
        </p:spPr>
      </p:sp>
      <p:sp>
        <p:nvSpPr>
          <p:cNvPr id="38" name="Text 34"/>
          <p:cNvSpPr/>
          <p:nvPr/>
        </p:nvSpPr>
        <p:spPr>
          <a:xfrm>
            <a:off x="2514600" y="5312664"/>
            <a:ext cx="14630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−0.0012</a:t>
            </a:r>
            <a:endParaRPr lang="en-US" sz="950" dirty="0"/>
          </a:p>
        </p:txBody>
      </p:sp>
      <p:sp>
        <p:nvSpPr>
          <p:cNvPr id="39" name="Shape 35"/>
          <p:cNvSpPr/>
          <p:nvPr/>
        </p:nvSpPr>
        <p:spPr>
          <a:xfrm>
            <a:off x="4023360" y="5312664"/>
            <a:ext cx="1417320" cy="269748"/>
          </a:xfrm>
          <a:prstGeom prst="rect">
            <a:avLst/>
          </a:prstGeom>
          <a:solidFill>
            <a:srgbClr val="F5F6F8"/>
          </a:solidFill>
          <a:ln w="12700">
            <a:solidFill>
              <a:srgbClr val="CCCCCC"/>
            </a:solidFill>
            <a:prstDash val="solid"/>
          </a:ln>
        </p:spPr>
      </p:sp>
      <p:sp>
        <p:nvSpPr>
          <p:cNvPr id="40" name="Text 36"/>
          <p:cNvSpPr/>
          <p:nvPr/>
        </p:nvSpPr>
        <p:spPr>
          <a:xfrm>
            <a:off x="4069080" y="5312664"/>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0.1852</a:t>
            </a:r>
            <a:endParaRPr lang="en-US" sz="950" dirty="0"/>
          </a:p>
        </p:txBody>
      </p:sp>
      <p:sp>
        <p:nvSpPr>
          <p:cNvPr id="41" name="Shape 37"/>
          <p:cNvSpPr/>
          <p:nvPr/>
        </p:nvSpPr>
        <p:spPr>
          <a:xfrm>
            <a:off x="5440680" y="5312664"/>
            <a:ext cx="1645920" cy="269748"/>
          </a:xfrm>
          <a:prstGeom prst="rect">
            <a:avLst/>
          </a:prstGeom>
          <a:solidFill>
            <a:srgbClr val="F5F6F8"/>
          </a:solidFill>
          <a:ln w="12700">
            <a:solidFill>
              <a:srgbClr val="CCCCCC"/>
            </a:solidFill>
            <a:prstDash val="solid"/>
          </a:ln>
        </p:spPr>
      </p:sp>
      <p:sp>
        <p:nvSpPr>
          <p:cNvPr id="42" name="Text 38"/>
          <p:cNvSpPr/>
          <p:nvPr/>
        </p:nvSpPr>
        <p:spPr>
          <a:xfrm>
            <a:off x="5486400" y="5312664"/>
            <a:ext cx="15544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−0.0576</a:t>
            </a:r>
            <a:endParaRPr lang="en-US" sz="950" dirty="0"/>
          </a:p>
        </p:txBody>
      </p:sp>
      <p:sp>
        <p:nvSpPr>
          <p:cNvPr id="43" name="Shape 39"/>
          <p:cNvSpPr/>
          <p:nvPr/>
        </p:nvSpPr>
        <p:spPr>
          <a:xfrm>
            <a:off x="7086600" y="5312664"/>
            <a:ext cx="1417320" cy="269748"/>
          </a:xfrm>
          <a:prstGeom prst="rect">
            <a:avLst/>
          </a:prstGeom>
          <a:solidFill>
            <a:srgbClr val="F5F6F8"/>
          </a:solidFill>
          <a:ln w="12700">
            <a:solidFill>
              <a:srgbClr val="CCCCCC"/>
            </a:solidFill>
            <a:prstDash val="solid"/>
          </a:ln>
        </p:spPr>
      </p:sp>
      <p:sp>
        <p:nvSpPr>
          <p:cNvPr id="44" name="Text 40"/>
          <p:cNvSpPr/>
          <p:nvPr/>
        </p:nvSpPr>
        <p:spPr>
          <a:xfrm>
            <a:off x="7132320" y="5312664"/>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0.0000</a:t>
            </a:r>
            <a:endParaRPr lang="en-US" sz="950" dirty="0"/>
          </a:p>
        </p:txBody>
      </p:sp>
      <p:sp>
        <p:nvSpPr>
          <p:cNvPr id="45" name="Shape 41"/>
          <p:cNvSpPr/>
          <p:nvPr/>
        </p:nvSpPr>
        <p:spPr>
          <a:xfrm>
            <a:off x="8503920" y="5312664"/>
            <a:ext cx="2468880" cy="269748"/>
          </a:xfrm>
          <a:prstGeom prst="rect">
            <a:avLst/>
          </a:prstGeom>
          <a:solidFill>
            <a:srgbClr val="F5F6F8"/>
          </a:solidFill>
          <a:ln w="12700">
            <a:solidFill>
              <a:srgbClr val="CCCCCC"/>
            </a:solidFill>
            <a:prstDash val="solid"/>
          </a:ln>
        </p:spPr>
      </p:sp>
      <p:sp>
        <p:nvSpPr>
          <p:cNvPr id="46" name="Text 42"/>
          <p:cNvSpPr/>
          <p:nvPr/>
        </p:nvSpPr>
        <p:spPr>
          <a:xfrm>
            <a:off x="8549640" y="5312664"/>
            <a:ext cx="23774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a:t>
            </a:r>
            <a:endParaRPr lang="en-US" sz="950" dirty="0"/>
          </a:p>
        </p:txBody>
      </p:sp>
      <p:sp>
        <p:nvSpPr>
          <p:cNvPr id="47" name="Shape 43"/>
          <p:cNvSpPr/>
          <p:nvPr/>
        </p:nvSpPr>
        <p:spPr>
          <a:xfrm>
            <a:off x="365760" y="5582412"/>
            <a:ext cx="2103120" cy="269748"/>
          </a:xfrm>
          <a:prstGeom prst="rect">
            <a:avLst/>
          </a:prstGeom>
          <a:solidFill>
            <a:srgbClr val="FFFFFF"/>
          </a:solidFill>
          <a:ln w="12700">
            <a:solidFill>
              <a:srgbClr val="CCCCCC"/>
            </a:solidFill>
            <a:prstDash val="solid"/>
          </a:ln>
        </p:spPr>
      </p:sp>
      <p:sp>
        <p:nvSpPr>
          <p:cNvPr id="48" name="Text 44"/>
          <p:cNvSpPr/>
          <p:nvPr/>
        </p:nvSpPr>
        <p:spPr>
          <a:xfrm>
            <a:off x="411480" y="5582412"/>
            <a:ext cx="20116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Decision Tree</a:t>
            </a:r>
            <a:endParaRPr lang="en-US" sz="950" dirty="0"/>
          </a:p>
        </p:txBody>
      </p:sp>
      <p:sp>
        <p:nvSpPr>
          <p:cNvPr id="49" name="Shape 45"/>
          <p:cNvSpPr/>
          <p:nvPr/>
        </p:nvSpPr>
        <p:spPr>
          <a:xfrm>
            <a:off x="2468880" y="5582412"/>
            <a:ext cx="1554480" cy="269748"/>
          </a:xfrm>
          <a:prstGeom prst="rect">
            <a:avLst/>
          </a:prstGeom>
          <a:solidFill>
            <a:srgbClr val="FFFFFF"/>
          </a:solidFill>
          <a:ln w="12700">
            <a:solidFill>
              <a:srgbClr val="CCCCCC"/>
            </a:solidFill>
            <a:prstDash val="solid"/>
          </a:ln>
        </p:spPr>
      </p:sp>
      <p:sp>
        <p:nvSpPr>
          <p:cNvPr id="50" name="Text 46"/>
          <p:cNvSpPr/>
          <p:nvPr/>
        </p:nvSpPr>
        <p:spPr>
          <a:xfrm>
            <a:off x="2514600" y="5582412"/>
            <a:ext cx="14630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−0.0095</a:t>
            </a:r>
            <a:endParaRPr lang="en-US" sz="950" dirty="0"/>
          </a:p>
        </p:txBody>
      </p:sp>
      <p:sp>
        <p:nvSpPr>
          <p:cNvPr id="51" name="Shape 47"/>
          <p:cNvSpPr/>
          <p:nvPr/>
        </p:nvSpPr>
        <p:spPr>
          <a:xfrm>
            <a:off x="4023360" y="5582412"/>
            <a:ext cx="1417320" cy="269748"/>
          </a:xfrm>
          <a:prstGeom prst="rect">
            <a:avLst/>
          </a:prstGeom>
          <a:solidFill>
            <a:srgbClr val="FFFFFF"/>
          </a:solidFill>
          <a:ln w="12700">
            <a:solidFill>
              <a:srgbClr val="CCCCCC"/>
            </a:solidFill>
            <a:prstDash val="solid"/>
          </a:ln>
        </p:spPr>
      </p:sp>
      <p:sp>
        <p:nvSpPr>
          <p:cNvPr id="52" name="Text 48"/>
          <p:cNvSpPr/>
          <p:nvPr/>
        </p:nvSpPr>
        <p:spPr>
          <a:xfrm>
            <a:off x="4069080" y="5582412"/>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0.1860</a:t>
            </a:r>
            <a:endParaRPr lang="en-US" sz="950" dirty="0"/>
          </a:p>
        </p:txBody>
      </p:sp>
      <p:sp>
        <p:nvSpPr>
          <p:cNvPr id="53" name="Shape 49"/>
          <p:cNvSpPr/>
          <p:nvPr/>
        </p:nvSpPr>
        <p:spPr>
          <a:xfrm>
            <a:off x="5440680" y="5582412"/>
            <a:ext cx="1645920" cy="269748"/>
          </a:xfrm>
          <a:prstGeom prst="rect">
            <a:avLst/>
          </a:prstGeom>
          <a:solidFill>
            <a:srgbClr val="FFFFFF"/>
          </a:solidFill>
          <a:ln w="12700">
            <a:solidFill>
              <a:srgbClr val="CCCCCC"/>
            </a:solidFill>
            <a:prstDash val="solid"/>
          </a:ln>
        </p:spPr>
      </p:sp>
      <p:sp>
        <p:nvSpPr>
          <p:cNvPr id="54" name="Text 50"/>
          <p:cNvSpPr/>
          <p:nvPr/>
        </p:nvSpPr>
        <p:spPr>
          <a:xfrm>
            <a:off x="5486400" y="5582412"/>
            <a:ext cx="15544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−0.0469</a:t>
            </a:r>
            <a:endParaRPr lang="en-US" sz="950" dirty="0"/>
          </a:p>
        </p:txBody>
      </p:sp>
      <p:sp>
        <p:nvSpPr>
          <p:cNvPr id="55" name="Shape 51"/>
          <p:cNvSpPr/>
          <p:nvPr/>
        </p:nvSpPr>
        <p:spPr>
          <a:xfrm>
            <a:off x="7086600" y="5582412"/>
            <a:ext cx="1417320" cy="269748"/>
          </a:xfrm>
          <a:prstGeom prst="rect">
            <a:avLst/>
          </a:prstGeom>
          <a:solidFill>
            <a:srgbClr val="FFFFFF"/>
          </a:solidFill>
          <a:ln w="12700">
            <a:solidFill>
              <a:srgbClr val="CCCCCC"/>
            </a:solidFill>
            <a:prstDash val="solid"/>
          </a:ln>
        </p:spPr>
      </p:sp>
      <p:sp>
        <p:nvSpPr>
          <p:cNvPr id="56" name="Text 52"/>
          <p:cNvSpPr/>
          <p:nvPr/>
        </p:nvSpPr>
        <p:spPr>
          <a:xfrm>
            <a:off x="7132320" y="5582412"/>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0.0000</a:t>
            </a:r>
            <a:endParaRPr lang="en-US" sz="950" dirty="0"/>
          </a:p>
        </p:txBody>
      </p:sp>
      <p:sp>
        <p:nvSpPr>
          <p:cNvPr id="57" name="Shape 53"/>
          <p:cNvSpPr/>
          <p:nvPr/>
        </p:nvSpPr>
        <p:spPr>
          <a:xfrm>
            <a:off x="8503920" y="5582412"/>
            <a:ext cx="2468880" cy="269748"/>
          </a:xfrm>
          <a:prstGeom prst="rect">
            <a:avLst/>
          </a:prstGeom>
          <a:solidFill>
            <a:srgbClr val="FFFFFF"/>
          </a:solidFill>
          <a:ln w="12700">
            <a:solidFill>
              <a:srgbClr val="CCCCCC"/>
            </a:solidFill>
            <a:prstDash val="solid"/>
          </a:ln>
        </p:spPr>
      </p:sp>
      <p:sp>
        <p:nvSpPr>
          <p:cNvPr id="58" name="Text 54"/>
          <p:cNvSpPr/>
          <p:nvPr/>
        </p:nvSpPr>
        <p:spPr>
          <a:xfrm>
            <a:off x="8549640" y="5582412"/>
            <a:ext cx="23774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a:t>
            </a:r>
            <a:endParaRPr lang="en-US" sz="950" dirty="0"/>
          </a:p>
        </p:txBody>
      </p:sp>
      <p:sp>
        <p:nvSpPr>
          <p:cNvPr id="59" name="Shape 55"/>
          <p:cNvSpPr/>
          <p:nvPr/>
        </p:nvSpPr>
        <p:spPr>
          <a:xfrm>
            <a:off x="365760" y="5852160"/>
            <a:ext cx="2103120" cy="269748"/>
          </a:xfrm>
          <a:prstGeom prst="rect">
            <a:avLst/>
          </a:prstGeom>
          <a:solidFill>
            <a:srgbClr val="F5F6F8"/>
          </a:solidFill>
          <a:ln w="12700">
            <a:solidFill>
              <a:srgbClr val="CCCCCC"/>
            </a:solidFill>
            <a:prstDash val="solid"/>
          </a:ln>
        </p:spPr>
      </p:sp>
      <p:sp>
        <p:nvSpPr>
          <p:cNvPr id="60" name="Text 56"/>
          <p:cNvSpPr/>
          <p:nvPr/>
        </p:nvSpPr>
        <p:spPr>
          <a:xfrm>
            <a:off x="411480" y="5852160"/>
            <a:ext cx="20116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Random Forest</a:t>
            </a:r>
            <a:endParaRPr lang="en-US" sz="950" dirty="0"/>
          </a:p>
        </p:txBody>
      </p:sp>
      <p:sp>
        <p:nvSpPr>
          <p:cNvPr id="61" name="Shape 57"/>
          <p:cNvSpPr/>
          <p:nvPr/>
        </p:nvSpPr>
        <p:spPr>
          <a:xfrm>
            <a:off x="2468880" y="5852160"/>
            <a:ext cx="1554480" cy="269748"/>
          </a:xfrm>
          <a:prstGeom prst="rect">
            <a:avLst/>
          </a:prstGeom>
          <a:solidFill>
            <a:srgbClr val="F5F6F8"/>
          </a:solidFill>
          <a:ln w="12700">
            <a:solidFill>
              <a:srgbClr val="CCCCCC"/>
            </a:solidFill>
            <a:prstDash val="solid"/>
          </a:ln>
        </p:spPr>
      </p:sp>
      <p:sp>
        <p:nvSpPr>
          <p:cNvPr id="62" name="Text 58"/>
          <p:cNvSpPr/>
          <p:nvPr/>
        </p:nvSpPr>
        <p:spPr>
          <a:xfrm>
            <a:off x="2514600" y="5852160"/>
            <a:ext cx="14630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−0.0090</a:t>
            </a:r>
            <a:endParaRPr lang="en-US" sz="950" dirty="0"/>
          </a:p>
        </p:txBody>
      </p:sp>
      <p:sp>
        <p:nvSpPr>
          <p:cNvPr id="63" name="Shape 59"/>
          <p:cNvSpPr/>
          <p:nvPr/>
        </p:nvSpPr>
        <p:spPr>
          <a:xfrm>
            <a:off x="4023360" y="5852160"/>
            <a:ext cx="1417320" cy="269748"/>
          </a:xfrm>
          <a:prstGeom prst="rect">
            <a:avLst/>
          </a:prstGeom>
          <a:solidFill>
            <a:srgbClr val="F5F6F8"/>
          </a:solidFill>
          <a:ln w="12700">
            <a:solidFill>
              <a:srgbClr val="CCCCCC"/>
            </a:solidFill>
            <a:prstDash val="solid"/>
          </a:ln>
        </p:spPr>
      </p:sp>
      <p:sp>
        <p:nvSpPr>
          <p:cNvPr id="64" name="Text 60"/>
          <p:cNvSpPr/>
          <p:nvPr/>
        </p:nvSpPr>
        <p:spPr>
          <a:xfrm>
            <a:off x="4069080" y="5852160"/>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0.1860</a:t>
            </a:r>
            <a:endParaRPr lang="en-US" sz="950" dirty="0"/>
          </a:p>
        </p:txBody>
      </p:sp>
      <p:sp>
        <p:nvSpPr>
          <p:cNvPr id="65" name="Shape 61"/>
          <p:cNvSpPr/>
          <p:nvPr/>
        </p:nvSpPr>
        <p:spPr>
          <a:xfrm>
            <a:off x="5440680" y="5852160"/>
            <a:ext cx="1645920" cy="269748"/>
          </a:xfrm>
          <a:prstGeom prst="rect">
            <a:avLst/>
          </a:prstGeom>
          <a:solidFill>
            <a:srgbClr val="F5F6F8"/>
          </a:solidFill>
          <a:ln w="12700">
            <a:solidFill>
              <a:srgbClr val="CCCCCC"/>
            </a:solidFill>
            <a:prstDash val="solid"/>
          </a:ln>
        </p:spPr>
      </p:sp>
      <p:sp>
        <p:nvSpPr>
          <p:cNvPr id="66" name="Text 62"/>
          <p:cNvSpPr/>
          <p:nvPr/>
        </p:nvSpPr>
        <p:spPr>
          <a:xfrm>
            <a:off x="5486400" y="5852160"/>
            <a:ext cx="15544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−0.0278</a:t>
            </a:r>
            <a:endParaRPr lang="en-US" sz="950" dirty="0"/>
          </a:p>
        </p:txBody>
      </p:sp>
      <p:sp>
        <p:nvSpPr>
          <p:cNvPr id="67" name="Shape 63"/>
          <p:cNvSpPr/>
          <p:nvPr/>
        </p:nvSpPr>
        <p:spPr>
          <a:xfrm>
            <a:off x="7086600" y="5852160"/>
            <a:ext cx="1417320" cy="269748"/>
          </a:xfrm>
          <a:prstGeom prst="rect">
            <a:avLst/>
          </a:prstGeom>
          <a:solidFill>
            <a:srgbClr val="F5F6F8"/>
          </a:solidFill>
          <a:ln w="12700">
            <a:solidFill>
              <a:srgbClr val="CCCCCC"/>
            </a:solidFill>
            <a:prstDash val="solid"/>
          </a:ln>
        </p:spPr>
      </p:sp>
      <p:sp>
        <p:nvSpPr>
          <p:cNvPr id="68" name="Text 64"/>
          <p:cNvSpPr/>
          <p:nvPr/>
        </p:nvSpPr>
        <p:spPr>
          <a:xfrm>
            <a:off x="7132320" y="5852160"/>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0.0000</a:t>
            </a:r>
            <a:endParaRPr lang="en-US" sz="950" dirty="0"/>
          </a:p>
        </p:txBody>
      </p:sp>
      <p:sp>
        <p:nvSpPr>
          <p:cNvPr id="69" name="Shape 65"/>
          <p:cNvSpPr/>
          <p:nvPr/>
        </p:nvSpPr>
        <p:spPr>
          <a:xfrm>
            <a:off x="8503920" y="5852160"/>
            <a:ext cx="2468880" cy="269748"/>
          </a:xfrm>
          <a:prstGeom prst="rect">
            <a:avLst/>
          </a:prstGeom>
          <a:solidFill>
            <a:srgbClr val="F5F6F8"/>
          </a:solidFill>
          <a:ln w="12700">
            <a:solidFill>
              <a:srgbClr val="CCCCCC"/>
            </a:solidFill>
            <a:prstDash val="solid"/>
          </a:ln>
        </p:spPr>
      </p:sp>
      <p:sp>
        <p:nvSpPr>
          <p:cNvPr id="70" name="Text 66"/>
          <p:cNvSpPr/>
          <p:nvPr/>
        </p:nvSpPr>
        <p:spPr>
          <a:xfrm>
            <a:off x="8549640" y="5852160"/>
            <a:ext cx="23774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a:t>
            </a:r>
            <a:endParaRPr lang="en-US" sz="950" dirty="0"/>
          </a:p>
        </p:txBody>
      </p:sp>
      <p:sp>
        <p:nvSpPr>
          <p:cNvPr id="71" name="Shape 67"/>
          <p:cNvSpPr/>
          <p:nvPr/>
        </p:nvSpPr>
        <p:spPr>
          <a:xfrm>
            <a:off x="365760" y="6121908"/>
            <a:ext cx="2103120" cy="269748"/>
          </a:xfrm>
          <a:prstGeom prst="rect">
            <a:avLst/>
          </a:prstGeom>
          <a:solidFill>
            <a:srgbClr val="E8EDF5"/>
          </a:solidFill>
          <a:ln w="12700">
            <a:solidFill>
              <a:srgbClr val="CCCCCC"/>
            </a:solidFill>
            <a:prstDash val="solid"/>
          </a:ln>
        </p:spPr>
      </p:sp>
      <p:sp>
        <p:nvSpPr>
          <p:cNvPr id="72" name="Text 68"/>
          <p:cNvSpPr/>
          <p:nvPr/>
        </p:nvSpPr>
        <p:spPr>
          <a:xfrm>
            <a:off x="411480" y="6121908"/>
            <a:ext cx="2011680" cy="269748"/>
          </a:xfrm>
          <a:prstGeom prst="rect">
            <a:avLst/>
          </a:prstGeom>
          <a:noFill/>
          <a:ln/>
        </p:spPr>
        <p:txBody>
          <a:bodyPr wrap="square"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XGBoost</a:t>
            </a:r>
            <a:endParaRPr lang="en-US" sz="950" dirty="0"/>
          </a:p>
        </p:txBody>
      </p:sp>
      <p:sp>
        <p:nvSpPr>
          <p:cNvPr id="73" name="Shape 69"/>
          <p:cNvSpPr/>
          <p:nvPr/>
        </p:nvSpPr>
        <p:spPr>
          <a:xfrm>
            <a:off x="2468880" y="6121908"/>
            <a:ext cx="1554480" cy="269748"/>
          </a:xfrm>
          <a:prstGeom prst="rect">
            <a:avLst/>
          </a:prstGeom>
          <a:solidFill>
            <a:srgbClr val="E8EDF5"/>
          </a:solidFill>
          <a:ln w="12700">
            <a:solidFill>
              <a:srgbClr val="CCCCCC"/>
            </a:solidFill>
            <a:prstDash val="solid"/>
          </a:ln>
        </p:spPr>
      </p:sp>
      <p:sp>
        <p:nvSpPr>
          <p:cNvPr id="74" name="Text 70"/>
          <p:cNvSpPr/>
          <p:nvPr/>
        </p:nvSpPr>
        <p:spPr>
          <a:xfrm>
            <a:off x="2514600" y="6121908"/>
            <a:ext cx="1463040" cy="269748"/>
          </a:xfrm>
          <a:prstGeom prst="rect">
            <a:avLst/>
          </a:prstGeom>
          <a:noFill/>
          <a:ln/>
        </p:spPr>
        <p:txBody>
          <a:bodyPr wrap="square"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−0.0041</a:t>
            </a:r>
            <a:endParaRPr lang="en-US" sz="950" dirty="0"/>
          </a:p>
        </p:txBody>
      </p:sp>
      <p:sp>
        <p:nvSpPr>
          <p:cNvPr id="75" name="Shape 71"/>
          <p:cNvSpPr/>
          <p:nvPr/>
        </p:nvSpPr>
        <p:spPr>
          <a:xfrm>
            <a:off x="4023360" y="6121908"/>
            <a:ext cx="1417320" cy="269748"/>
          </a:xfrm>
          <a:prstGeom prst="rect">
            <a:avLst/>
          </a:prstGeom>
          <a:solidFill>
            <a:srgbClr val="E8EDF5"/>
          </a:solidFill>
          <a:ln w="12700">
            <a:solidFill>
              <a:srgbClr val="CCCCCC"/>
            </a:solidFill>
            <a:prstDash val="solid"/>
          </a:ln>
        </p:spPr>
      </p:sp>
      <p:sp>
        <p:nvSpPr>
          <p:cNvPr id="76" name="Text 72"/>
          <p:cNvSpPr/>
          <p:nvPr/>
        </p:nvSpPr>
        <p:spPr>
          <a:xfrm>
            <a:off x="4069080" y="6121908"/>
            <a:ext cx="1325880" cy="269748"/>
          </a:xfrm>
          <a:prstGeom prst="rect">
            <a:avLst/>
          </a:prstGeom>
          <a:noFill/>
          <a:ln/>
        </p:spPr>
        <p:txBody>
          <a:bodyPr wrap="square"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0.1855</a:t>
            </a:r>
            <a:endParaRPr lang="en-US" sz="950" dirty="0"/>
          </a:p>
        </p:txBody>
      </p:sp>
      <p:sp>
        <p:nvSpPr>
          <p:cNvPr id="77" name="Shape 73"/>
          <p:cNvSpPr/>
          <p:nvPr/>
        </p:nvSpPr>
        <p:spPr>
          <a:xfrm>
            <a:off x="5440680" y="6121908"/>
            <a:ext cx="1645920" cy="269748"/>
          </a:xfrm>
          <a:prstGeom prst="rect">
            <a:avLst/>
          </a:prstGeom>
          <a:solidFill>
            <a:srgbClr val="E8EDF5"/>
          </a:solidFill>
          <a:ln w="12700">
            <a:solidFill>
              <a:srgbClr val="CCCCCC"/>
            </a:solidFill>
            <a:prstDash val="solid"/>
          </a:ln>
        </p:spPr>
      </p:sp>
      <p:sp>
        <p:nvSpPr>
          <p:cNvPr id="78" name="Text 74"/>
          <p:cNvSpPr/>
          <p:nvPr/>
        </p:nvSpPr>
        <p:spPr>
          <a:xfrm>
            <a:off x="5486400" y="6121908"/>
            <a:ext cx="1554480" cy="269748"/>
          </a:xfrm>
          <a:prstGeom prst="rect">
            <a:avLst/>
          </a:prstGeom>
          <a:noFill/>
          <a:ln/>
        </p:spPr>
        <p:txBody>
          <a:bodyPr wrap="square"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+0.0014</a:t>
            </a:r>
            <a:endParaRPr lang="en-US" sz="950" dirty="0"/>
          </a:p>
        </p:txBody>
      </p:sp>
      <p:sp>
        <p:nvSpPr>
          <p:cNvPr id="79" name="Shape 75"/>
          <p:cNvSpPr/>
          <p:nvPr/>
        </p:nvSpPr>
        <p:spPr>
          <a:xfrm>
            <a:off x="7086600" y="6121908"/>
            <a:ext cx="1417320" cy="269748"/>
          </a:xfrm>
          <a:prstGeom prst="rect">
            <a:avLst/>
          </a:prstGeom>
          <a:solidFill>
            <a:srgbClr val="E8EDF5"/>
          </a:solidFill>
          <a:ln w="12700">
            <a:solidFill>
              <a:srgbClr val="CCCCCC"/>
            </a:solidFill>
            <a:prstDash val="solid"/>
          </a:ln>
        </p:spPr>
      </p:sp>
      <p:sp>
        <p:nvSpPr>
          <p:cNvPr id="80" name="Text 76"/>
          <p:cNvSpPr/>
          <p:nvPr/>
        </p:nvSpPr>
        <p:spPr>
          <a:xfrm>
            <a:off x="7132320" y="6121908"/>
            <a:ext cx="1325880" cy="269748"/>
          </a:xfrm>
          <a:prstGeom prst="rect">
            <a:avLst/>
          </a:prstGeom>
          <a:noFill/>
          <a:ln/>
        </p:spPr>
        <p:txBody>
          <a:bodyPr wrap="square"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0.6047</a:t>
            </a:r>
            <a:endParaRPr lang="en-US" sz="950" dirty="0"/>
          </a:p>
        </p:txBody>
      </p:sp>
      <p:sp>
        <p:nvSpPr>
          <p:cNvPr id="81" name="Shape 77"/>
          <p:cNvSpPr/>
          <p:nvPr/>
        </p:nvSpPr>
        <p:spPr>
          <a:xfrm>
            <a:off x="8503920" y="6121908"/>
            <a:ext cx="2468880" cy="269748"/>
          </a:xfrm>
          <a:prstGeom prst="rect">
            <a:avLst/>
          </a:prstGeom>
          <a:solidFill>
            <a:srgbClr val="E8EDF5"/>
          </a:solidFill>
          <a:ln w="12700">
            <a:solidFill>
              <a:srgbClr val="CCCCCC"/>
            </a:solidFill>
            <a:prstDash val="solid"/>
          </a:ln>
        </p:spPr>
      </p:sp>
      <p:sp>
        <p:nvSpPr>
          <p:cNvPr id="82" name="Text 78"/>
          <p:cNvSpPr/>
          <p:nvPr/>
        </p:nvSpPr>
        <p:spPr>
          <a:xfrm>
            <a:off x="8549640" y="6121908"/>
            <a:ext cx="2377440" cy="269748"/>
          </a:xfrm>
          <a:prstGeom prst="rect">
            <a:avLst/>
          </a:prstGeom>
          <a:noFill/>
          <a:ln/>
        </p:spPr>
        <p:txBody>
          <a:bodyPr wrap="square"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NAII (rank 1)</a:t>
            </a:r>
            <a:endParaRPr lang="en-US" sz="950" dirty="0"/>
          </a:p>
        </p:txBody>
      </p:sp>
      <p:sp>
        <p:nvSpPr>
          <p:cNvPr id="83" name="Shape 79"/>
          <p:cNvSpPr/>
          <p:nvPr/>
        </p:nvSpPr>
        <p:spPr>
          <a:xfrm>
            <a:off x="365760" y="6391656"/>
            <a:ext cx="2103120" cy="269748"/>
          </a:xfrm>
          <a:prstGeom prst="rect">
            <a:avLst/>
          </a:prstGeom>
          <a:solidFill>
            <a:srgbClr val="F5F6F8"/>
          </a:solidFill>
          <a:ln w="12700">
            <a:solidFill>
              <a:srgbClr val="CCCCCC"/>
            </a:solidFill>
            <a:prstDash val="solid"/>
          </a:ln>
        </p:spPr>
      </p:sp>
      <p:sp>
        <p:nvSpPr>
          <p:cNvPr id="84" name="Text 80"/>
          <p:cNvSpPr/>
          <p:nvPr/>
        </p:nvSpPr>
        <p:spPr>
          <a:xfrm>
            <a:off x="411480" y="6391656"/>
            <a:ext cx="20116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Neural Net</a:t>
            </a:r>
            <a:endParaRPr lang="en-US" sz="950" dirty="0"/>
          </a:p>
        </p:txBody>
      </p:sp>
      <p:sp>
        <p:nvSpPr>
          <p:cNvPr id="85" name="Shape 81"/>
          <p:cNvSpPr/>
          <p:nvPr/>
        </p:nvSpPr>
        <p:spPr>
          <a:xfrm>
            <a:off x="2468880" y="6391656"/>
            <a:ext cx="1554480" cy="269748"/>
          </a:xfrm>
          <a:prstGeom prst="rect">
            <a:avLst/>
          </a:prstGeom>
          <a:solidFill>
            <a:srgbClr val="F5F6F8"/>
          </a:solidFill>
          <a:ln w="12700">
            <a:solidFill>
              <a:srgbClr val="CCCCCC"/>
            </a:solidFill>
            <a:prstDash val="solid"/>
          </a:ln>
        </p:spPr>
      </p:sp>
      <p:sp>
        <p:nvSpPr>
          <p:cNvPr id="86" name="Text 82"/>
          <p:cNvSpPr/>
          <p:nvPr/>
        </p:nvSpPr>
        <p:spPr>
          <a:xfrm>
            <a:off x="2514600" y="6391656"/>
            <a:ext cx="14630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−0.0059</a:t>
            </a:r>
            <a:endParaRPr lang="en-US" sz="950" dirty="0"/>
          </a:p>
        </p:txBody>
      </p:sp>
      <p:sp>
        <p:nvSpPr>
          <p:cNvPr id="87" name="Shape 83"/>
          <p:cNvSpPr/>
          <p:nvPr/>
        </p:nvSpPr>
        <p:spPr>
          <a:xfrm>
            <a:off x="4023360" y="6391656"/>
            <a:ext cx="1417320" cy="269748"/>
          </a:xfrm>
          <a:prstGeom prst="rect">
            <a:avLst/>
          </a:prstGeom>
          <a:solidFill>
            <a:srgbClr val="F5F6F8"/>
          </a:solidFill>
          <a:ln w="12700">
            <a:solidFill>
              <a:srgbClr val="CCCCCC"/>
            </a:solidFill>
            <a:prstDash val="solid"/>
          </a:ln>
        </p:spPr>
      </p:sp>
      <p:sp>
        <p:nvSpPr>
          <p:cNvPr id="88" name="Text 84"/>
          <p:cNvSpPr/>
          <p:nvPr/>
        </p:nvSpPr>
        <p:spPr>
          <a:xfrm>
            <a:off x="4069080" y="6391656"/>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0.1857</a:t>
            </a:r>
            <a:endParaRPr lang="en-US" sz="950" dirty="0"/>
          </a:p>
        </p:txBody>
      </p:sp>
      <p:sp>
        <p:nvSpPr>
          <p:cNvPr id="89" name="Shape 85"/>
          <p:cNvSpPr/>
          <p:nvPr/>
        </p:nvSpPr>
        <p:spPr>
          <a:xfrm>
            <a:off x="5440680" y="6391656"/>
            <a:ext cx="1645920" cy="269748"/>
          </a:xfrm>
          <a:prstGeom prst="rect">
            <a:avLst/>
          </a:prstGeom>
          <a:solidFill>
            <a:srgbClr val="F5F6F8"/>
          </a:solidFill>
          <a:ln w="12700">
            <a:solidFill>
              <a:srgbClr val="CCCCCC"/>
            </a:solidFill>
            <a:prstDash val="solid"/>
          </a:ln>
        </p:spPr>
      </p:sp>
      <p:sp>
        <p:nvSpPr>
          <p:cNvPr id="90" name="Text 86"/>
          <p:cNvSpPr/>
          <p:nvPr/>
        </p:nvSpPr>
        <p:spPr>
          <a:xfrm>
            <a:off x="5486400" y="6391656"/>
            <a:ext cx="15544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−0.0027</a:t>
            </a:r>
            <a:endParaRPr lang="en-US" sz="950" dirty="0"/>
          </a:p>
        </p:txBody>
      </p:sp>
      <p:sp>
        <p:nvSpPr>
          <p:cNvPr id="91" name="Shape 87"/>
          <p:cNvSpPr/>
          <p:nvPr/>
        </p:nvSpPr>
        <p:spPr>
          <a:xfrm>
            <a:off x="7086600" y="6391656"/>
            <a:ext cx="1417320" cy="269748"/>
          </a:xfrm>
          <a:prstGeom prst="rect">
            <a:avLst/>
          </a:prstGeom>
          <a:solidFill>
            <a:srgbClr val="F5F6F8"/>
          </a:solidFill>
          <a:ln w="12700">
            <a:solidFill>
              <a:srgbClr val="CCCCCC"/>
            </a:solidFill>
            <a:prstDash val="solid"/>
          </a:ln>
        </p:spPr>
      </p:sp>
      <p:sp>
        <p:nvSpPr>
          <p:cNvPr id="92" name="Text 88"/>
          <p:cNvSpPr/>
          <p:nvPr/>
        </p:nvSpPr>
        <p:spPr>
          <a:xfrm>
            <a:off x="7132320" y="6391656"/>
            <a:ext cx="132588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0.3041</a:t>
            </a:r>
            <a:endParaRPr lang="en-US" sz="950" dirty="0"/>
          </a:p>
        </p:txBody>
      </p:sp>
      <p:sp>
        <p:nvSpPr>
          <p:cNvPr id="93" name="Shape 89"/>
          <p:cNvSpPr/>
          <p:nvPr/>
        </p:nvSpPr>
        <p:spPr>
          <a:xfrm>
            <a:off x="8503920" y="6391656"/>
            <a:ext cx="2468880" cy="269748"/>
          </a:xfrm>
          <a:prstGeom prst="rect">
            <a:avLst/>
          </a:prstGeom>
          <a:solidFill>
            <a:srgbClr val="F5F6F8"/>
          </a:solidFill>
          <a:ln w="12700">
            <a:solidFill>
              <a:srgbClr val="CCCCCC"/>
            </a:solidFill>
            <a:prstDash val="solid"/>
          </a:ln>
        </p:spPr>
      </p:sp>
      <p:sp>
        <p:nvSpPr>
          <p:cNvPr id="94" name="Text 90"/>
          <p:cNvSpPr/>
          <p:nvPr/>
        </p:nvSpPr>
        <p:spPr>
          <a:xfrm>
            <a:off x="8549640" y="6391656"/>
            <a:ext cx="2377440" cy="269748"/>
          </a:xfrm>
          <a:prstGeom prst="rect">
            <a:avLst/>
          </a:prstGeom>
          <a:noFill/>
          <a:ln/>
        </p:spPr>
        <p:txBody>
          <a:bodyPr wrap="square" rtlCol="0" anchor="ctr"/>
          <a:lstStyle/>
          <a:p>
            <a:pPr indent="0" marL="0">
              <a:buNone/>
            </a:pPr>
            <a:r>
              <a:rPr lang="en-US" sz="950" dirty="0">
                <a:solidFill>
                  <a:srgbClr val="333333"/>
                </a:solidFill>
                <a:latin typeface="Calibri" pitchFamily="34" charset="0"/>
                <a:ea typeface="Calibri" pitchFamily="34" charset="-122"/>
                <a:cs typeface="Calibri" pitchFamily="34" charset="-120"/>
              </a:rPr>
              <a: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w="12700">
            <a:solidFill>
              <a:srgbClr val="1B2A4A"/>
            </a:solidFill>
            <a:prstDash val="solid"/>
          </a:ln>
        </p:spPr>
      </p:sp>
      <p:sp>
        <p:nvSpPr>
          <p:cNvPr id="3" name="Shape 1"/>
          <p:cNvSpPr/>
          <p:nvPr/>
        </p:nvSpPr>
        <p:spPr>
          <a:xfrm>
            <a:off x="0" y="0"/>
            <a:ext cx="82296" cy="6858000"/>
          </a:xfrm>
          <a:prstGeom prst="rect">
            <a:avLst/>
          </a:prstGeom>
          <a:solidFill>
            <a:srgbClr val="C9A84C"/>
          </a:solidFill>
          <a:ln w="12700">
            <a:solidFill>
              <a:srgbClr val="C9A84C"/>
            </a:solidFill>
            <a:prstDash val="solid"/>
          </a:ln>
        </p:spPr>
      </p:sp>
      <p:sp>
        <p:nvSpPr>
          <p:cNvPr id="4" name="Text 2"/>
          <p:cNvSpPr/>
          <p:nvPr/>
        </p:nvSpPr>
        <p:spPr>
          <a:xfrm>
            <a:off x="457200" y="411480"/>
            <a:ext cx="10972800" cy="6858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Conclusion</a:t>
            </a:r>
            <a:endParaRPr lang="en-US" sz="3800" dirty="0"/>
          </a:p>
        </p:txBody>
      </p:sp>
      <p:sp>
        <p:nvSpPr>
          <p:cNvPr id="5" name="Shape 3"/>
          <p:cNvSpPr/>
          <p:nvPr/>
        </p:nvSpPr>
        <p:spPr>
          <a:xfrm>
            <a:off x="457200" y="1170432"/>
            <a:ext cx="3200400" cy="54864"/>
          </a:xfrm>
          <a:prstGeom prst="rect">
            <a:avLst/>
          </a:prstGeom>
          <a:solidFill>
            <a:srgbClr val="C9A84C"/>
          </a:solidFill>
          <a:ln w="12700">
            <a:solidFill>
              <a:srgbClr val="C9A84C"/>
            </a:solidFill>
            <a:prstDash val="solid"/>
          </a:ln>
        </p:spPr>
      </p:sp>
      <p:sp>
        <p:nvSpPr>
          <p:cNvPr id="6" name="Shape 4"/>
          <p:cNvSpPr/>
          <p:nvPr/>
        </p:nvSpPr>
        <p:spPr>
          <a:xfrm>
            <a:off x="457200" y="1353312"/>
            <a:ext cx="11430000" cy="987552"/>
          </a:xfrm>
          <a:prstGeom prst="rect">
            <a:avLst/>
          </a:prstGeom>
          <a:solidFill>
            <a:srgbClr val="C9A84C"/>
          </a:solidFill>
          <a:ln w="12700">
            <a:solidFill>
              <a:srgbClr val="C9A84C"/>
            </a:solidFill>
            <a:prstDash val="solid"/>
          </a:ln>
        </p:spPr>
      </p:sp>
      <p:sp>
        <p:nvSpPr>
          <p:cNvPr id="7" name="Text 5"/>
          <p:cNvSpPr/>
          <p:nvPr/>
        </p:nvSpPr>
        <p:spPr>
          <a:xfrm>
            <a:off x="640080" y="1389888"/>
            <a:ext cx="11064240" cy="475488"/>
          </a:xfrm>
          <a:prstGeom prst="rect">
            <a:avLst/>
          </a:prstGeom>
          <a:noFill/>
          <a:ln/>
        </p:spPr>
        <p:txBody>
          <a:bodyPr wrap="square" rtlCol="0" anchor="ctr"/>
          <a:lstStyle/>
          <a:p>
            <a:pPr indent="0" marL="0">
              <a:buNone/>
            </a:pPr>
            <a:r>
              <a:rPr lang="en-US" sz="2100" b="1" dirty="0">
                <a:solidFill>
                  <a:srgbClr val="1B2A4A"/>
                </a:solidFill>
                <a:latin typeface="Georgia" pitchFamily="34" charset="0"/>
                <a:ea typeface="Georgia" pitchFamily="34" charset="-122"/>
                <a:cs typeface="Georgia" pitchFamily="34" charset="-120"/>
              </a:rPr>
              <a:t>Buy Recommendation:  NAII — Natural Alternatives International Inc.</a:t>
            </a:r>
            <a:endParaRPr lang="en-US" sz="2100" dirty="0"/>
          </a:p>
        </p:txBody>
      </p:sp>
      <p:sp>
        <p:nvSpPr>
          <p:cNvPr id="8" name="Text 6"/>
          <p:cNvSpPr/>
          <p:nvPr/>
        </p:nvSpPr>
        <p:spPr>
          <a:xfrm>
            <a:off x="640080" y="1828800"/>
            <a:ext cx="11064240" cy="384048"/>
          </a:xfrm>
          <a:prstGeom prst="rect">
            <a:avLst/>
          </a:prstGeom>
          <a:noFill/>
          <a:ln/>
        </p:spPr>
        <p:txBody>
          <a:bodyPr wrap="square" rtlCol="0" anchor="ctr"/>
          <a:lstStyle/>
          <a:p>
            <a:pPr indent="0" marL="0">
              <a:buNone/>
            </a:pPr>
            <a:r>
              <a:rPr lang="en-US" sz="1250" dirty="0">
                <a:solidFill>
                  <a:srgbClr val="1B2A4A"/>
                </a:solidFill>
                <a:latin typeface="Calibri" pitchFamily="34" charset="0"/>
                <a:ea typeface="Calibri" pitchFamily="34" charset="-122"/>
                <a:cs typeface="Calibri" pitchFamily="34" charset="-120"/>
              </a:rPr>
              <a:t>Top-3 under OLS and XGBoost   •   Top-8 under 4 of 6 models   •   Strong 12-month momentum signal</a:t>
            </a:r>
            <a:endParaRPr lang="en-US" sz="1250" dirty="0"/>
          </a:p>
        </p:txBody>
      </p:sp>
      <p:sp>
        <p:nvSpPr>
          <p:cNvPr id="9" name="Shape 7"/>
          <p:cNvSpPr/>
          <p:nvPr/>
        </p:nvSpPr>
        <p:spPr>
          <a:xfrm>
            <a:off x="457200" y="2505456"/>
            <a:ext cx="365760" cy="365760"/>
          </a:xfrm>
          <a:prstGeom prst="ellipse">
            <a:avLst/>
          </a:prstGeom>
          <a:solidFill>
            <a:srgbClr val="C9A84C"/>
          </a:solidFill>
          <a:ln w="12700">
            <a:solidFill>
              <a:srgbClr val="C9A84C"/>
            </a:solidFill>
            <a:prstDash val="solid"/>
          </a:ln>
        </p:spPr>
      </p:sp>
      <p:sp>
        <p:nvSpPr>
          <p:cNvPr id="10" name="Text 8"/>
          <p:cNvSpPr/>
          <p:nvPr/>
        </p:nvSpPr>
        <p:spPr>
          <a:xfrm>
            <a:off x="457200" y="2505456"/>
            <a:ext cx="365760" cy="3657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960120" y="2487168"/>
            <a:ext cx="10881360" cy="457200"/>
          </a:xfrm>
          <a:prstGeom prst="rect">
            <a:avLst/>
          </a:prstGeom>
          <a:noFill/>
          <a:ln/>
        </p:spPr>
        <p:txBody>
          <a:bodyPr wrap="square" rtlCol="0" anchor="ctr"/>
          <a:lstStyle/>
          <a:p>
            <a:pPr indent="0" marL="0">
              <a:buNone/>
            </a:pPr>
            <a:r>
              <a:rPr lang="en-US" sz="1150" dirty="0">
                <a:solidFill>
                  <a:srgbClr val="C5D5E8"/>
                </a:solidFill>
                <a:latin typeface="Calibri" pitchFamily="34" charset="0"/>
                <a:ea typeface="Calibri" pitchFamily="34" charset="-122"/>
                <a:cs typeface="Calibri" pitchFamily="34" charset="-120"/>
              </a:rPr>
              <a:t>All six models produce near-zero or slightly negative out-of-sample R² on the 2022–2024 test period — consistent with the well-established empirical result that individual stock returns are very difficult to predict.</a:t>
            </a:r>
            <a:endParaRPr lang="en-US" sz="1150" dirty="0"/>
          </a:p>
        </p:txBody>
      </p:sp>
      <p:sp>
        <p:nvSpPr>
          <p:cNvPr id="12" name="Shape 10"/>
          <p:cNvSpPr/>
          <p:nvPr/>
        </p:nvSpPr>
        <p:spPr>
          <a:xfrm>
            <a:off x="457200" y="3493008"/>
            <a:ext cx="365760" cy="365760"/>
          </a:xfrm>
          <a:prstGeom prst="ellipse">
            <a:avLst/>
          </a:prstGeom>
          <a:solidFill>
            <a:srgbClr val="C9A84C"/>
          </a:solidFill>
          <a:ln w="12700">
            <a:solidFill>
              <a:srgbClr val="C9A84C"/>
            </a:solidFill>
            <a:prstDash val="solid"/>
          </a:ln>
        </p:spPr>
      </p:sp>
      <p:sp>
        <p:nvSpPr>
          <p:cNvPr id="13" name="Text 11"/>
          <p:cNvSpPr/>
          <p:nvPr/>
        </p:nvSpPr>
        <p:spPr>
          <a:xfrm>
            <a:off x="457200" y="3493008"/>
            <a:ext cx="365760" cy="3657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960120" y="3474720"/>
            <a:ext cx="10881360" cy="457200"/>
          </a:xfrm>
          <a:prstGeom prst="rect">
            <a:avLst/>
          </a:prstGeom>
          <a:noFill/>
          <a:ln/>
        </p:spPr>
        <p:txBody>
          <a:bodyPr wrap="square" rtlCol="0" anchor="ctr"/>
          <a:lstStyle/>
          <a:p>
            <a:pPr indent="0" marL="0">
              <a:buNone/>
            </a:pPr>
            <a:r>
              <a:rPr lang="en-US" sz="1150" dirty="0">
                <a:solidFill>
                  <a:srgbClr val="C5D5E8"/>
                </a:solidFill>
                <a:latin typeface="Calibri" pitchFamily="34" charset="0"/>
                <a:ea typeface="Calibri" pitchFamily="34" charset="-122"/>
                <a:cs typeface="Calibri" pitchFamily="34" charset="-120"/>
              </a:rPr>
              <a:t>12-month momentum is the most consistently important predictor across all six methods. LASSO further reduced the feature set to just market cap and book-to-market, eliminating 87% of predictors.</a:t>
            </a:r>
            <a:endParaRPr lang="en-US" sz="1150" dirty="0"/>
          </a:p>
        </p:txBody>
      </p:sp>
      <p:sp>
        <p:nvSpPr>
          <p:cNvPr id="15" name="Shape 13"/>
          <p:cNvSpPr/>
          <p:nvPr/>
        </p:nvSpPr>
        <p:spPr>
          <a:xfrm>
            <a:off x="457200" y="4480560"/>
            <a:ext cx="365760" cy="365760"/>
          </a:xfrm>
          <a:prstGeom prst="ellipse">
            <a:avLst/>
          </a:prstGeom>
          <a:solidFill>
            <a:srgbClr val="C9A84C"/>
          </a:solidFill>
          <a:ln w="12700">
            <a:solidFill>
              <a:srgbClr val="C9A84C"/>
            </a:solidFill>
            <a:prstDash val="solid"/>
          </a:ln>
        </p:spPr>
      </p:sp>
      <p:sp>
        <p:nvSpPr>
          <p:cNvPr id="16" name="Text 14"/>
          <p:cNvSpPr/>
          <p:nvPr/>
        </p:nvSpPr>
        <p:spPr>
          <a:xfrm>
            <a:off x="457200" y="4480560"/>
            <a:ext cx="365760" cy="3657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960120" y="4462272"/>
            <a:ext cx="10881360" cy="457200"/>
          </a:xfrm>
          <a:prstGeom prst="rect">
            <a:avLst/>
          </a:prstGeom>
          <a:noFill/>
          <a:ln/>
        </p:spPr>
        <p:txBody>
          <a:bodyPr wrap="square" rtlCol="0" anchor="ctr"/>
          <a:lstStyle/>
          <a:p>
            <a:pPr indent="0" marL="0">
              <a:buNone/>
            </a:pPr>
            <a:r>
              <a:rPr lang="en-US" sz="1150" dirty="0">
                <a:solidFill>
                  <a:srgbClr val="C5D5E8"/>
                </a:solidFill>
                <a:latin typeface="Calibri" pitchFamily="34" charset="0"/>
                <a:ea typeface="Calibri" pitchFamily="34" charset="-122"/>
                <a:cs typeface="Calibri" pitchFamily="34" charset="-120"/>
              </a:rPr>
              <a:t>Cross-model consensus provides additional confidence: even weak directional signals, when aggregated across many stocks and methods, improve rank stability and support the NAII recommendation.</a:t>
            </a:r>
            <a:endParaRPr lang="en-US" sz="1150" dirty="0"/>
          </a:p>
        </p:txBody>
      </p:sp>
      <p:sp>
        <p:nvSpPr>
          <p:cNvPr id="18" name="Shape 16"/>
          <p:cNvSpPr/>
          <p:nvPr/>
        </p:nvSpPr>
        <p:spPr>
          <a:xfrm>
            <a:off x="457200" y="5468112"/>
            <a:ext cx="365760" cy="365760"/>
          </a:xfrm>
          <a:prstGeom prst="ellipse">
            <a:avLst/>
          </a:prstGeom>
          <a:solidFill>
            <a:srgbClr val="C9A84C"/>
          </a:solidFill>
          <a:ln w="12700">
            <a:solidFill>
              <a:srgbClr val="C9A84C"/>
            </a:solidFill>
            <a:prstDash val="solid"/>
          </a:ln>
        </p:spPr>
      </p:sp>
      <p:sp>
        <p:nvSpPr>
          <p:cNvPr id="19" name="Text 17"/>
          <p:cNvSpPr/>
          <p:nvPr/>
        </p:nvSpPr>
        <p:spPr>
          <a:xfrm>
            <a:off x="457200" y="5468112"/>
            <a:ext cx="365760" cy="3657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960120" y="5449824"/>
            <a:ext cx="10881360" cy="457200"/>
          </a:xfrm>
          <a:prstGeom prst="rect">
            <a:avLst/>
          </a:prstGeom>
          <a:noFill/>
          <a:ln/>
        </p:spPr>
        <p:txBody>
          <a:bodyPr wrap="square" rtlCol="0" anchor="ctr"/>
          <a:lstStyle/>
          <a:p>
            <a:pPr indent="0" marL="0">
              <a:buNone/>
            </a:pPr>
            <a:r>
              <a:rPr lang="en-US" sz="1150" dirty="0">
                <a:solidFill>
                  <a:srgbClr val="C5D5E8"/>
                </a:solidFill>
                <a:latin typeface="Calibri" pitchFamily="34" charset="0"/>
                <a:ea typeface="Calibri" pitchFamily="34" charset="-122"/>
                <a:cs typeface="Calibri" pitchFamily="34" charset="-120"/>
              </a:rPr>
              <a:t>Future work: ensemble stacking, alternative targets (sector-relative rank), richer feature sets including sentiment from earnings calls, and longer prediction horizons.</a:t>
            </a:r>
            <a:endParaRPr lang="en-US" sz="1150" dirty="0"/>
          </a:p>
        </p:txBody>
      </p:sp>
      <p:sp>
        <p:nvSpPr>
          <p:cNvPr id="21" name="Text 19"/>
          <p:cNvSpPr/>
          <p:nvPr/>
        </p:nvSpPr>
        <p:spPr>
          <a:xfrm>
            <a:off x="457200" y="6492240"/>
            <a:ext cx="10972800" cy="274320"/>
          </a:xfrm>
          <a:prstGeom prst="rect">
            <a:avLst/>
          </a:prstGeom>
          <a:noFill/>
          <a:ln/>
        </p:spPr>
        <p:txBody>
          <a:bodyPr wrap="square" rtlCol="0" anchor="ctr"/>
          <a:lstStyle/>
          <a:p>
            <a:pPr algn="ctr" indent="0" marL="0">
              <a:buNone/>
            </a:pPr>
            <a:r>
              <a:rPr lang="en-US" sz="1000" dirty="0">
                <a:solidFill>
                  <a:srgbClr val="4F7090"/>
                </a:solidFill>
                <a:latin typeface="Calibri" pitchFamily="34" charset="0"/>
                <a:ea typeface="Calibri" pitchFamily="34" charset="-122"/>
                <a:cs typeface="Calibri" pitchFamily="34" charset="-120"/>
              </a:rPr>
              <a:t>FIN 427  |  University of Michigan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2026-04-09T19:40:19Z</dcterms:created>
  <dcterms:modified xsi:type="dcterms:W3CDTF">2026-04-09T19:40:19Z</dcterms:modified>
</cp:coreProperties>
</file>